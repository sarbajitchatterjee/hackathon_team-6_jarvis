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nva Sans Bold" panose="020B0803030501040103" pitchFamily="34" charset="0"/>
      <p:regular r:id="rId23"/>
      <p:bold r:id="rId24"/>
    </p:embeddedFont>
    <p:embeddedFont>
      <p:font typeface="Carlito" panose="020F0502020204030204" pitchFamily="34" charset="0"/>
      <p:regular r:id="rId25"/>
    </p:embeddedFont>
    <p:embeddedFont>
      <p:font typeface="Carlito Bold" panose="020F0502020204030204" pitchFamily="34" charset="0"/>
      <p:regular r:id="rId26"/>
      <p:bold r:id="rId27"/>
    </p:embeddedFont>
    <p:embeddedFont>
      <p:font typeface="Carlito Bold Italics" panose="020F0502020204030204" pitchFamily="34" charset="0"/>
      <p:regular r:id="rId28"/>
      <p:bold r:id="rId29"/>
      <p:italic r:id="rId30"/>
      <p:boldItalic r:id="rId31"/>
    </p:embeddedFont>
    <p:embeddedFont>
      <p:font typeface="Cerebri Bold" pitchFamily="2" charset="77"/>
      <p:regular r:id="rId32"/>
      <p:bold r:id="rId33"/>
    </p:embeddedFont>
    <p:embeddedFont>
      <p:font typeface="TT Interphases Bold" panose="02000803060000020004" pitchFamily="2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630" autoAdjust="0"/>
  </p:normalViewPr>
  <p:slideViewPr>
    <p:cSldViewPr>
      <p:cViewPr varScale="1">
        <p:scale>
          <a:sx n="75" d="100"/>
          <a:sy n="75" d="100"/>
        </p:scale>
        <p:origin x="6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svg"/><Relationship Id="rId7" Type="http://schemas.openxmlformats.org/officeDocument/2006/relationships/hyperlink" Target="https://jarvis-oddo.lovable.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6.svg"/><Relationship Id="rId7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jarvis-oddo.lovable.app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image" Target="../media/image8.svg"/><Relationship Id="rId4" Type="http://schemas.openxmlformats.org/officeDocument/2006/relationships/image" Target="../media/image14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4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.pn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10" Type="http://schemas.openxmlformats.org/officeDocument/2006/relationships/image" Target="../media/image14.svg"/><Relationship Id="rId4" Type="http://schemas.openxmlformats.org/officeDocument/2006/relationships/image" Target="../media/image3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3.png"/><Relationship Id="rId7" Type="http://schemas.openxmlformats.org/officeDocument/2006/relationships/image" Target="../media/image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47.jpeg"/><Relationship Id="rId4" Type="http://schemas.openxmlformats.org/officeDocument/2006/relationships/image" Target="../media/image44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andmarkets.com" TargetMode="External"/><Relationship Id="rId7" Type="http://schemas.openxmlformats.org/officeDocument/2006/relationships/image" Target="../media/image14.svg"/><Relationship Id="rId2" Type="http://schemas.openxmlformats.org/officeDocument/2006/relationships/hyperlink" Target="https://www.mckinsey.com/industries/financial-services/our-insight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hyperlink" Target="https://www.deloitte.com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5.png"/><Relationship Id="rId4" Type="http://schemas.openxmlformats.org/officeDocument/2006/relationships/image" Target="../media/image48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jarvis-oddo.lovable.app" TargetMode="Externa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4.svg"/><Relationship Id="rId3" Type="http://schemas.openxmlformats.org/officeDocument/2006/relationships/image" Target="../media/image20.png"/><Relationship Id="rId7" Type="http://schemas.openxmlformats.org/officeDocument/2006/relationships/image" Target="../media/image52.png"/><Relationship Id="rId12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3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21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01054" y="5684194"/>
            <a:ext cx="9602109" cy="9566101"/>
          </a:xfrm>
          <a:custGeom>
            <a:avLst/>
            <a:gdLst/>
            <a:ahLst/>
            <a:cxnLst/>
            <a:rect l="l" t="t" r="r" b="b"/>
            <a:pathLst>
              <a:path w="9602109" h="9566101">
                <a:moveTo>
                  <a:pt x="0" y="0"/>
                </a:moveTo>
                <a:lnTo>
                  <a:pt x="9602108" y="0"/>
                </a:lnTo>
                <a:lnTo>
                  <a:pt x="9602108" y="9566101"/>
                </a:lnTo>
                <a:lnTo>
                  <a:pt x="0" y="956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7034" y="574795"/>
            <a:ext cx="1561340" cy="794332"/>
          </a:xfrm>
          <a:custGeom>
            <a:avLst/>
            <a:gdLst/>
            <a:ahLst/>
            <a:cxnLst/>
            <a:rect l="l" t="t" r="r" b="b"/>
            <a:pathLst>
              <a:path w="1561340" h="794332">
                <a:moveTo>
                  <a:pt x="0" y="0"/>
                </a:moveTo>
                <a:lnTo>
                  <a:pt x="1561340" y="0"/>
                </a:lnTo>
                <a:lnTo>
                  <a:pt x="1561340" y="794332"/>
                </a:lnTo>
                <a:lnTo>
                  <a:pt x="0" y="79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77723" y="599858"/>
            <a:ext cx="2890118" cy="744206"/>
          </a:xfrm>
          <a:custGeom>
            <a:avLst/>
            <a:gdLst/>
            <a:ahLst/>
            <a:cxnLst/>
            <a:rect l="l" t="t" r="r" b="b"/>
            <a:pathLst>
              <a:path w="2890118" h="744206">
                <a:moveTo>
                  <a:pt x="0" y="0"/>
                </a:moveTo>
                <a:lnTo>
                  <a:pt x="2890119" y="0"/>
                </a:lnTo>
                <a:lnTo>
                  <a:pt x="2890119" y="744205"/>
                </a:lnTo>
                <a:lnTo>
                  <a:pt x="0" y="744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1604758"/>
            <a:ext cx="4425616" cy="933674"/>
          </a:xfrm>
          <a:custGeom>
            <a:avLst/>
            <a:gdLst/>
            <a:ahLst/>
            <a:cxnLst/>
            <a:rect l="l" t="t" r="r" b="b"/>
            <a:pathLst>
              <a:path w="4425616" h="933674">
                <a:moveTo>
                  <a:pt x="0" y="0"/>
                </a:moveTo>
                <a:lnTo>
                  <a:pt x="4425616" y="0"/>
                </a:lnTo>
                <a:lnTo>
                  <a:pt x="4425616" y="933674"/>
                </a:lnTo>
                <a:lnTo>
                  <a:pt x="0" y="933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39482" y="3501887"/>
            <a:ext cx="6566601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  <a:spcBef>
                <a:spcPct val="0"/>
              </a:spcBef>
            </a:pPr>
            <a:r>
              <a:rPr lang="en-US" sz="7699" b="1" u="sng" dirty="0">
                <a:solidFill>
                  <a:schemeClr val="bg1"/>
                </a:solidFill>
                <a:latin typeface="Carlito Bold"/>
                <a:ea typeface="Carlito Bold"/>
                <a:cs typeface="Carlito Bold"/>
                <a:sym typeface="Carlito Bold"/>
                <a:hlinkClick r:id="rId7" tooltip="https://jarvis-oddo.lovable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Jarvis</a:t>
            </a:r>
          </a:p>
        </p:txBody>
      </p:sp>
      <p:sp>
        <p:nvSpPr>
          <p:cNvPr id="7" name="Freeform 7"/>
          <p:cNvSpPr/>
          <p:nvPr/>
        </p:nvSpPr>
        <p:spPr>
          <a:xfrm>
            <a:off x="9395701" y="-5034362"/>
            <a:ext cx="9602109" cy="9566101"/>
          </a:xfrm>
          <a:custGeom>
            <a:avLst/>
            <a:gdLst/>
            <a:ahLst/>
            <a:cxnLst/>
            <a:rect l="l" t="t" r="r" b="b"/>
            <a:pathLst>
              <a:path w="9602109" h="9566101">
                <a:moveTo>
                  <a:pt x="0" y="0"/>
                </a:moveTo>
                <a:lnTo>
                  <a:pt x="9602109" y="0"/>
                </a:lnTo>
                <a:lnTo>
                  <a:pt x="9602109" y="9566101"/>
                </a:lnTo>
                <a:lnTo>
                  <a:pt x="0" y="956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039534" y="4771251"/>
            <a:ext cx="7024822" cy="19050"/>
          </a:xfrm>
          <a:prstGeom prst="line">
            <a:avLst/>
          </a:prstGeom>
          <a:ln w="57150" cap="flat">
            <a:gradFill>
              <a:gsLst>
                <a:gs pos="0">
                  <a:srgbClr val="65B7C2">
                    <a:alpha val="100000"/>
                  </a:srgbClr>
                </a:gs>
                <a:gs pos="100000">
                  <a:srgbClr val="042F81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3856836" y="-251312"/>
            <a:ext cx="4638059" cy="10718557"/>
            <a:chOff x="0" y="0"/>
            <a:chExt cx="718557" cy="16605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8557" cy="1660585"/>
            </a:xfrm>
            <a:custGeom>
              <a:avLst/>
              <a:gdLst/>
              <a:ahLst/>
              <a:cxnLst/>
              <a:rect l="l" t="t" r="r" b="b"/>
              <a:pathLst>
                <a:path w="718557" h="1660585">
                  <a:moveTo>
                    <a:pt x="0" y="0"/>
                  </a:moveTo>
                  <a:lnTo>
                    <a:pt x="718557" y="0"/>
                  </a:lnTo>
                  <a:lnTo>
                    <a:pt x="718557" y="1660585"/>
                  </a:lnTo>
                  <a:lnTo>
                    <a:pt x="0" y="1660585"/>
                  </a:lnTo>
                  <a:close/>
                </a:path>
              </a:pathLst>
            </a:custGeom>
            <a:blipFill>
              <a:blip r:embed="rId8">
                <a:alphaModFix amt="55000"/>
              </a:blip>
              <a:stretch>
                <a:fillRect l="-27033" r="-2703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39482" y="5031766"/>
            <a:ext cx="9095000" cy="159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The AI Co-Manager </a:t>
            </a:r>
          </a:p>
          <a:p>
            <a:pPr algn="l">
              <a:lnSpc>
                <a:spcPts val="5719"/>
              </a:lnSpc>
              <a:spcBef>
                <a:spcPct val="0"/>
              </a:spcBef>
            </a:pPr>
            <a:r>
              <a:rPr lang="en-US" sz="5199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That Beats the 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9482" y="8553542"/>
            <a:ext cx="701404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Team 6  </a:t>
            </a:r>
          </a:p>
          <a:p>
            <a:pPr algn="l">
              <a:lnSpc>
                <a:spcPts val="242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Future of Private Investment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686640" y="557403"/>
            <a:ext cx="1932984" cy="829116"/>
            <a:chOff x="0" y="0"/>
            <a:chExt cx="2577311" cy="11054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7501" cy="1105487"/>
            </a:xfrm>
            <a:custGeom>
              <a:avLst/>
              <a:gdLst/>
              <a:ahLst/>
              <a:cxnLst/>
              <a:rect l="l" t="t" r="r" b="b"/>
              <a:pathLst>
                <a:path w="1107501" h="1105487">
                  <a:moveTo>
                    <a:pt x="0" y="0"/>
                  </a:moveTo>
                  <a:lnTo>
                    <a:pt x="1107501" y="0"/>
                  </a:lnTo>
                  <a:lnTo>
                    <a:pt x="1107501" y="1105487"/>
                  </a:lnTo>
                  <a:lnTo>
                    <a:pt x="0" y="1105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297597" y="394484"/>
              <a:ext cx="1279715" cy="38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9"/>
                </a:lnSpc>
              </a:pPr>
              <a:r>
                <a:rPr lang="en-US" sz="2235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54568" y="212823"/>
              <a:ext cx="197520" cy="339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38151" y="10287"/>
            <a:ext cx="5749849" cy="10276713"/>
            <a:chOff x="0" y="0"/>
            <a:chExt cx="501482" cy="8962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1482" cy="896299"/>
            </a:xfrm>
            <a:custGeom>
              <a:avLst/>
              <a:gdLst/>
              <a:ahLst/>
              <a:cxnLst/>
              <a:rect l="l" t="t" r="r" b="b"/>
              <a:pathLst>
                <a:path w="501482" h="896299">
                  <a:moveTo>
                    <a:pt x="0" y="0"/>
                  </a:moveTo>
                  <a:lnTo>
                    <a:pt x="501482" y="0"/>
                  </a:lnTo>
                  <a:lnTo>
                    <a:pt x="501482" y="896299"/>
                  </a:lnTo>
                  <a:lnTo>
                    <a:pt x="0" y="896299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1482" cy="924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5611" y="2908470"/>
            <a:ext cx="4842674" cy="4842674"/>
          </a:xfrm>
          <a:custGeom>
            <a:avLst/>
            <a:gdLst/>
            <a:ahLst/>
            <a:cxnLst/>
            <a:rect l="l" t="t" r="r" b="b"/>
            <a:pathLst>
              <a:path w="4842674" h="4842674">
                <a:moveTo>
                  <a:pt x="0" y="0"/>
                </a:moveTo>
                <a:lnTo>
                  <a:pt x="4842674" y="0"/>
                </a:lnTo>
                <a:lnTo>
                  <a:pt x="4842674" y="4842674"/>
                </a:lnTo>
                <a:lnTo>
                  <a:pt x="0" y="4842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75" t="-2751" b="-2751"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95" y="2240543"/>
            <a:ext cx="6330470" cy="603814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503" r="-50142" b="-78229"/>
            </a:stretch>
          </a:blipFill>
        </p:spPr>
      </p:sp>
      <p:grpSp>
        <p:nvGrpSpPr>
          <p:cNvPr id="8" name="Group 8"/>
          <p:cNvGrpSpPr/>
          <p:nvPr/>
        </p:nvGrpSpPr>
        <p:grpSpPr>
          <a:xfrm rot="6606348">
            <a:off x="11231132" y="7109361"/>
            <a:ext cx="355053" cy="310671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2899" y="9722029"/>
            <a:ext cx="105988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6E6E6E"/>
                </a:solidFill>
                <a:latin typeface="Carlito"/>
                <a:ea typeface="Carlito"/>
                <a:cs typeface="Carlito"/>
                <a:sym typeface="Carlito"/>
              </a:rPr>
              <a:t>Source: EFAMA (2024); Broadridge (2024); McKinsey Global Institute (2025)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5358" y="3387030"/>
            <a:ext cx="4915435" cy="326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 i="1">
                <a:solidFill>
                  <a:srgbClr val="FFFFFF"/>
                </a:solidFill>
                <a:latin typeface="Carlito Bold Italics"/>
                <a:ea typeface="Carlito Bold Italics"/>
                <a:cs typeface="Carlito Bold Italics"/>
                <a:sym typeface="Carlito Bold Italics"/>
              </a:rPr>
              <a:t>Active managers have less margin to generate the same outperformance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5358" y="1128126"/>
            <a:ext cx="4915435" cy="866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As a result...</a:t>
            </a:r>
          </a:p>
        </p:txBody>
      </p:sp>
      <p:grpSp>
        <p:nvGrpSpPr>
          <p:cNvPr id="14" name="Group 14"/>
          <p:cNvGrpSpPr/>
          <p:nvPr/>
        </p:nvGrpSpPr>
        <p:grpSpPr>
          <a:xfrm rot="9256969">
            <a:off x="11231132" y="4735614"/>
            <a:ext cx="355053" cy="310671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700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11586" y="179616"/>
              <a:ext cx="167472" cy="289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2898" y="516481"/>
            <a:ext cx="3511901" cy="497181"/>
            <a:chOff x="0" y="0"/>
            <a:chExt cx="675730" cy="1309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22301" y="575165"/>
            <a:ext cx="3073094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An Opportunity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2899" y="1261476"/>
            <a:ext cx="1168017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Active managers are under pressure...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9406" y="3017387"/>
            <a:ext cx="3647580" cy="6329856"/>
          </a:xfrm>
          <a:custGeom>
            <a:avLst/>
            <a:gdLst/>
            <a:ahLst/>
            <a:cxnLst/>
            <a:rect l="l" t="t" r="r" b="b"/>
            <a:pathLst>
              <a:path w="3647580" h="6329856">
                <a:moveTo>
                  <a:pt x="0" y="0"/>
                </a:moveTo>
                <a:lnTo>
                  <a:pt x="3647579" y="0"/>
                </a:lnTo>
                <a:lnTo>
                  <a:pt x="3647579" y="6329856"/>
                </a:lnTo>
                <a:lnTo>
                  <a:pt x="0" y="6329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358851" y="4007245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1BC47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4" name="AutoShape 4"/>
          <p:cNvSpPr/>
          <p:nvPr/>
        </p:nvSpPr>
        <p:spPr>
          <a:xfrm>
            <a:off x="3358851" y="6607682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1BC47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5" name="TextBox 5"/>
          <p:cNvSpPr txBox="1"/>
          <p:nvPr/>
        </p:nvSpPr>
        <p:spPr>
          <a:xfrm>
            <a:off x="4912483" y="3578620"/>
            <a:ext cx="3384976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Financial statements &amp; broker research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899" y="9722029"/>
            <a:ext cx="105988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6E6E6E"/>
                </a:solidFill>
                <a:latin typeface="Carlito"/>
                <a:ea typeface="Carlito"/>
                <a:cs typeface="Carlito"/>
                <a:sym typeface="Carlito"/>
              </a:rPr>
              <a:t>Source: EFAMA (2024); Broadridge (2024); McKinsey Global Institute (2025)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12482" y="5870403"/>
            <a:ext cx="400291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High-signal data</a:t>
            </a:r>
            <a:r>
              <a:rPr lang="en-US" sz="3000" dirty="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: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patents, regulation, technical text, enterprise reporting, etc.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048498" y="3464945"/>
            <a:ext cx="6843229" cy="1460171"/>
            <a:chOff x="0" y="0"/>
            <a:chExt cx="9124305" cy="194689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124305" cy="1946895"/>
              <a:chOff x="0" y="0"/>
              <a:chExt cx="659028" cy="1406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59028" cy="140620"/>
              </a:xfrm>
              <a:custGeom>
                <a:avLst/>
                <a:gdLst/>
                <a:ahLst/>
                <a:cxnLst/>
                <a:rect l="l" t="t" r="r" b="b"/>
                <a:pathLst>
                  <a:path w="659028" h="140620">
                    <a:moveTo>
                      <a:pt x="43114" y="0"/>
                    </a:moveTo>
                    <a:lnTo>
                      <a:pt x="615914" y="0"/>
                    </a:lnTo>
                    <a:cubicBezTo>
                      <a:pt x="627348" y="0"/>
                      <a:pt x="638314" y="4542"/>
                      <a:pt x="646400" y="12628"/>
                    </a:cubicBezTo>
                    <a:cubicBezTo>
                      <a:pt x="654485" y="20713"/>
                      <a:pt x="659028" y="31679"/>
                      <a:pt x="659028" y="43114"/>
                    </a:cubicBezTo>
                    <a:lnTo>
                      <a:pt x="659028" y="97506"/>
                    </a:lnTo>
                    <a:cubicBezTo>
                      <a:pt x="659028" y="108940"/>
                      <a:pt x="654485" y="119907"/>
                      <a:pt x="646400" y="127992"/>
                    </a:cubicBezTo>
                    <a:cubicBezTo>
                      <a:pt x="638314" y="136077"/>
                      <a:pt x="627348" y="140620"/>
                      <a:pt x="615914" y="140620"/>
                    </a:cubicBezTo>
                    <a:lnTo>
                      <a:pt x="43114" y="140620"/>
                    </a:lnTo>
                    <a:cubicBezTo>
                      <a:pt x="31679" y="140620"/>
                      <a:pt x="20713" y="136077"/>
                      <a:pt x="12628" y="127992"/>
                    </a:cubicBezTo>
                    <a:cubicBezTo>
                      <a:pt x="4542" y="119907"/>
                      <a:pt x="0" y="108940"/>
                      <a:pt x="0" y="97506"/>
                    </a:cubicBezTo>
                    <a:lnTo>
                      <a:pt x="0" y="43114"/>
                    </a:lnTo>
                    <a:cubicBezTo>
                      <a:pt x="0" y="31679"/>
                      <a:pt x="4542" y="20713"/>
                      <a:pt x="12628" y="12628"/>
                    </a:cubicBezTo>
                    <a:cubicBezTo>
                      <a:pt x="20713" y="4542"/>
                      <a:pt x="31679" y="0"/>
                      <a:pt x="43114" y="0"/>
                    </a:cubicBezTo>
                    <a:close/>
                  </a:path>
                </a:pathLst>
              </a:custGeom>
              <a:solidFill>
                <a:srgbClr val="22025E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59028" cy="112045"/>
              </a:xfrm>
              <a:prstGeom prst="rect">
                <a:avLst/>
              </a:prstGeom>
            </p:spPr>
            <p:txBody>
              <a:bodyPr lIns="61366" tIns="61366" rIns="61366" bIns="61366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841610" y="237235"/>
              <a:ext cx="5441086" cy="1221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F9FAF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Unstructured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48498" y="5393362"/>
            <a:ext cx="6843229" cy="1458196"/>
            <a:chOff x="0" y="0"/>
            <a:chExt cx="9124305" cy="1944262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124305" cy="1944262"/>
              <a:chOff x="0" y="0"/>
              <a:chExt cx="659028" cy="1404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59028" cy="140430"/>
              </a:xfrm>
              <a:custGeom>
                <a:avLst/>
                <a:gdLst/>
                <a:ahLst/>
                <a:cxnLst/>
                <a:rect l="l" t="t" r="r" b="b"/>
                <a:pathLst>
                  <a:path w="659028" h="140430">
                    <a:moveTo>
                      <a:pt x="43114" y="0"/>
                    </a:moveTo>
                    <a:lnTo>
                      <a:pt x="615914" y="0"/>
                    </a:lnTo>
                    <a:cubicBezTo>
                      <a:pt x="627348" y="0"/>
                      <a:pt x="638314" y="4542"/>
                      <a:pt x="646400" y="12628"/>
                    </a:cubicBezTo>
                    <a:cubicBezTo>
                      <a:pt x="654485" y="20713"/>
                      <a:pt x="659028" y="31679"/>
                      <a:pt x="659028" y="43114"/>
                    </a:cubicBezTo>
                    <a:lnTo>
                      <a:pt x="659028" y="97316"/>
                    </a:lnTo>
                    <a:cubicBezTo>
                      <a:pt x="659028" y="108750"/>
                      <a:pt x="654485" y="119716"/>
                      <a:pt x="646400" y="127802"/>
                    </a:cubicBezTo>
                    <a:cubicBezTo>
                      <a:pt x="638314" y="135887"/>
                      <a:pt x="627348" y="140430"/>
                      <a:pt x="615914" y="140430"/>
                    </a:cubicBezTo>
                    <a:lnTo>
                      <a:pt x="43114" y="140430"/>
                    </a:lnTo>
                    <a:cubicBezTo>
                      <a:pt x="31679" y="140430"/>
                      <a:pt x="20713" y="135887"/>
                      <a:pt x="12628" y="127802"/>
                    </a:cubicBezTo>
                    <a:cubicBezTo>
                      <a:pt x="4542" y="119716"/>
                      <a:pt x="0" y="108750"/>
                      <a:pt x="0" y="97316"/>
                    </a:cubicBezTo>
                    <a:lnTo>
                      <a:pt x="0" y="43114"/>
                    </a:lnTo>
                    <a:cubicBezTo>
                      <a:pt x="0" y="31679"/>
                      <a:pt x="4542" y="20713"/>
                      <a:pt x="12628" y="12628"/>
                    </a:cubicBezTo>
                    <a:cubicBezTo>
                      <a:pt x="20713" y="4542"/>
                      <a:pt x="31679" y="0"/>
                      <a:pt x="43114" y="0"/>
                    </a:cubicBezTo>
                    <a:close/>
                  </a:path>
                </a:pathLst>
              </a:custGeom>
              <a:solidFill>
                <a:srgbClr val="570BEB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28575"/>
                <a:ext cx="659028" cy="111855"/>
              </a:xfrm>
              <a:prstGeom prst="rect">
                <a:avLst/>
              </a:prstGeom>
            </p:spPr>
            <p:txBody>
              <a:bodyPr lIns="61366" tIns="61366" rIns="61366" bIns="61366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129941" y="237235"/>
              <a:ext cx="4924012" cy="1221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F9FAF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Fragmented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91348" y="7326008"/>
            <a:ext cx="6843229" cy="1458196"/>
            <a:chOff x="0" y="0"/>
            <a:chExt cx="9124305" cy="194426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124305" cy="1944262"/>
              <a:chOff x="0" y="0"/>
              <a:chExt cx="659028" cy="1404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59028" cy="140430"/>
              </a:xfrm>
              <a:custGeom>
                <a:avLst/>
                <a:gdLst/>
                <a:ahLst/>
                <a:cxnLst/>
                <a:rect l="l" t="t" r="r" b="b"/>
                <a:pathLst>
                  <a:path w="659028" h="140430">
                    <a:moveTo>
                      <a:pt x="43114" y="0"/>
                    </a:moveTo>
                    <a:lnTo>
                      <a:pt x="615914" y="0"/>
                    </a:lnTo>
                    <a:cubicBezTo>
                      <a:pt x="627348" y="0"/>
                      <a:pt x="638314" y="4542"/>
                      <a:pt x="646400" y="12628"/>
                    </a:cubicBezTo>
                    <a:cubicBezTo>
                      <a:pt x="654485" y="20713"/>
                      <a:pt x="659028" y="31679"/>
                      <a:pt x="659028" y="43114"/>
                    </a:cubicBezTo>
                    <a:lnTo>
                      <a:pt x="659028" y="97316"/>
                    </a:lnTo>
                    <a:cubicBezTo>
                      <a:pt x="659028" y="108750"/>
                      <a:pt x="654485" y="119716"/>
                      <a:pt x="646400" y="127802"/>
                    </a:cubicBezTo>
                    <a:cubicBezTo>
                      <a:pt x="638314" y="135887"/>
                      <a:pt x="627348" y="140430"/>
                      <a:pt x="615914" y="140430"/>
                    </a:cubicBezTo>
                    <a:lnTo>
                      <a:pt x="43114" y="140430"/>
                    </a:lnTo>
                    <a:cubicBezTo>
                      <a:pt x="31679" y="140430"/>
                      <a:pt x="20713" y="135887"/>
                      <a:pt x="12628" y="127802"/>
                    </a:cubicBezTo>
                    <a:cubicBezTo>
                      <a:pt x="4542" y="119716"/>
                      <a:pt x="0" y="108750"/>
                      <a:pt x="0" y="97316"/>
                    </a:cubicBezTo>
                    <a:lnTo>
                      <a:pt x="0" y="43114"/>
                    </a:lnTo>
                    <a:cubicBezTo>
                      <a:pt x="0" y="31679"/>
                      <a:pt x="4542" y="20713"/>
                      <a:pt x="12628" y="12628"/>
                    </a:cubicBezTo>
                    <a:cubicBezTo>
                      <a:pt x="20713" y="4542"/>
                      <a:pt x="31679" y="0"/>
                      <a:pt x="43114" y="0"/>
                    </a:cubicBezTo>
                    <a:close/>
                  </a:path>
                </a:pathLst>
              </a:custGeom>
              <a:solidFill>
                <a:srgbClr val="9091F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659028" cy="111855"/>
              </a:xfrm>
              <a:prstGeom prst="rect">
                <a:avLst/>
              </a:prstGeom>
            </p:spPr>
            <p:txBody>
              <a:bodyPr lIns="61366" tIns="61366" rIns="61366" bIns="61366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2129941" y="237235"/>
              <a:ext cx="4924012" cy="1221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F9FAF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Costly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503" r="-50142" b="-78229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2898" y="516481"/>
            <a:ext cx="3435701" cy="497181"/>
            <a:chOff x="0" y="0"/>
            <a:chExt cx="675730" cy="1309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26339" y="575037"/>
            <a:ext cx="2566260" cy="380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The Problem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2899" y="1261476"/>
            <a:ext cx="17082201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The competitive edge has shifted from data access to interpreting complex, forward-looking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26662" y="10287"/>
            <a:ext cx="5226280" cy="10276713"/>
            <a:chOff x="0" y="0"/>
            <a:chExt cx="455818" cy="8962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818" cy="896299"/>
            </a:xfrm>
            <a:custGeom>
              <a:avLst/>
              <a:gdLst/>
              <a:ahLst/>
              <a:cxnLst/>
              <a:rect l="l" t="t" r="r" b="b"/>
              <a:pathLst>
                <a:path w="455818" h="896299">
                  <a:moveTo>
                    <a:pt x="0" y="0"/>
                  </a:moveTo>
                  <a:lnTo>
                    <a:pt x="455818" y="0"/>
                  </a:lnTo>
                  <a:lnTo>
                    <a:pt x="455818" y="896299"/>
                  </a:lnTo>
                  <a:lnTo>
                    <a:pt x="0" y="896299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55818" cy="924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55026" y="201871"/>
            <a:ext cx="1638923" cy="702984"/>
            <a:chOff x="0" y="0"/>
            <a:chExt cx="2185231" cy="9373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100196" y="296990"/>
              <a:ext cx="1085035" cy="362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Javis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11586" y="141516"/>
              <a:ext cx="167472" cy="327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7"/>
                </a:lnSpc>
              </a:pPr>
              <a:r>
                <a:rPr lang="en-US" sz="1693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+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02899" y="2763102"/>
            <a:ext cx="6324408" cy="6312909"/>
          </a:xfrm>
          <a:custGeom>
            <a:avLst/>
            <a:gdLst/>
            <a:ahLst/>
            <a:cxnLst/>
            <a:rect l="l" t="t" r="r" b="b"/>
            <a:pathLst>
              <a:path w="6324408" h="6312909">
                <a:moveTo>
                  <a:pt x="0" y="0"/>
                </a:moveTo>
                <a:lnTo>
                  <a:pt x="6324408" y="0"/>
                </a:lnTo>
                <a:lnTo>
                  <a:pt x="6324408" y="6312909"/>
                </a:lnTo>
                <a:lnTo>
                  <a:pt x="0" y="6312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3527905" y="3248368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4023112" y="4626965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>
            <a:off x="4596859" y="5877406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15" name="AutoShape 15"/>
          <p:cNvSpPr/>
          <p:nvPr/>
        </p:nvSpPr>
        <p:spPr>
          <a:xfrm>
            <a:off x="5373675" y="7161261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16" name="AutoShape 16"/>
          <p:cNvSpPr/>
          <p:nvPr/>
        </p:nvSpPr>
        <p:spPr>
          <a:xfrm>
            <a:off x="5984040" y="8571647"/>
            <a:ext cx="155363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17" name="TextBox 17"/>
          <p:cNvSpPr txBox="1"/>
          <p:nvPr/>
        </p:nvSpPr>
        <p:spPr>
          <a:xfrm>
            <a:off x="13346923" y="3178196"/>
            <a:ext cx="4689839" cy="401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i="1">
                <a:solidFill>
                  <a:srgbClr val="FFFFFF"/>
                </a:solidFill>
                <a:latin typeface="Carlito Bold Italics"/>
                <a:ea typeface="Carlito Bold Italics"/>
                <a:cs typeface="Carlito Bold Italics"/>
                <a:sym typeface="Carlito Bold Italics"/>
              </a:rPr>
              <a:t>Identify undervalued companies earlier and with higher conviction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0339" y="8098896"/>
            <a:ext cx="3258910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ingestion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46449" y="6777136"/>
            <a:ext cx="4334349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Semantic extraction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87033" y="5455376"/>
            <a:ext cx="3816893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Signal generation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59031" y="4278712"/>
            <a:ext cx="4593709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Valuation integration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5039" y="2836480"/>
            <a:ext cx="3686796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Decision support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503" r="-50142" b="-78229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11586" y="179616"/>
              <a:ext cx="167472" cy="289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2899" y="516481"/>
            <a:ext cx="2565664" cy="497181"/>
            <a:chOff x="0" y="0"/>
            <a:chExt cx="675730" cy="13094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0166" y="566636"/>
            <a:ext cx="1951130" cy="423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Our Solution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2899" y="1261476"/>
            <a:ext cx="1252376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We turn hidden information into valuation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2899" y="2347326"/>
            <a:ext cx="2304313" cy="7130090"/>
            <a:chOff x="0" y="0"/>
            <a:chExt cx="1158093" cy="3583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8093" cy="3583414"/>
            </a:xfrm>
            <a:custGeom>
              <a:avLst/>
              <a:gdLst/>
              <a:ahLst/>
              <a:cxnLst/>
              <a:rect l="l" t="t" r="r" b="b"/>
              <a:pathLst>
                <a:path w="1158093" h="3583414">
                  <a:moveTo>
                    <a:pt x="0" y="0"/>
                  </a:moveTo>
                  <a:lnTo>
                    <a:pt x="1158093" y="0"/>
                  </a:lnTo>
                  <a:lnTo>
                    <a:pt x="1158093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158093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8651" y="4720123"/>
            <a:ext cx="1868657" cy="1146372"/>
            <a:chOff x="0" y="0"/>
            <a:chExt cx="384497" cy="2358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497" cy="235879"/>
            </a:xfrm>
            <a:custGeom>
              <a:avLst/>
              <a:gdLst/>
              <a:ahLst/>
              <a:cxnLst/>
              <a:rect l="l" t="t" r="r" b="b"/>
              <a:pathLst>
                <a:path w="384497" h="235879">
                  <a:moveTo>
                    <a:pt x="0" y="0"/>
                  </a:moveTo>
                  <a:lnTo>
                    <a:pt x="384497" y="0"/>
                  </a:lnTo>
                  <a:lnTo>
                    <a:pt x="384497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84497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Unstructured data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8651" y="6198640"/>
            <a:ext cx="1904205" cy="1146372"/>
            <a:chOff x="0" y="0"/>
            <a:chExt cx="391812" cy="2358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1812" cy="235879"/>
            </a:xfrm>
            <a:custGeom>
              <a:avLst/>
              <a:gdLst/>
              <a:ahLst/>
              <a:cxnLst/>
              <a:rect l="l" t="t" r="r" b="b"/>
              <a:pathLst>
                <a:path w="391812" h="235879">
                  <a:moveTo>
                    <a:pt x="0" y="0"/>
                  </a:moveTo>
                  <a:lnTo>
                    <a:pt x="391812" y="0"/>
                  </a:lnTo>
                  <a:lnTo>
                    <a:pt x="391812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391812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Financial data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69363" y="2347326"/>
            <a:ext cx="3492777" cy="7130090"/>
            <a:chOff x="0" y="0"/>
            <a:chExt cx="1755387" cy="35834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55387" cy="3583414"/>
            </a:xfrm>
            <a:custGeom>
              <a:avLst/>
              <a:gdLst/>
              <a:ahLst/>
              <a:cxnLst/>
              <a:rect l="l" t="t" r="r" b="b"/>
              <a:pathLst>
                <a:path w="1755387" h="3583414">
                  <a:moveTo>
                    <a:pt x="0" y="0"/>
                  </a:moveTo>
                  <a:lnTo>
                    <a:pt x="1755387" y="0"/>
                  </a:lnTo>
                  <a:lnTo>
                    <a:pt x="1755387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55387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63183" y="4720123"/>
            <a:ext cx="3086100" cy="1146372"/>
            <a:chOff x="0" y="0"/>
            <a:chExt cx="635000" cy="235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235879"/>
            </a:xfrm>
            <a:custGeom>
              <a:avLst/>
              <a:gdLst/>
              <a:ahLst/>
              <a:cxnLst/>
              <a:rect l="l" t="t" r="r" b="b"/>
              <a:pathLst>
                <a:path w="635000" h="235879">
                  <a:moveTo>
                    <a:pt x="0" y="0"/>
                  </a:moveTo>
                  <a:lnTo>
                    <a:pt x="635000" y="0"/>
                  </a:lnTo>
                  <a:lnTo>
                    <a:pt x="635000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635000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Economically meaningful signals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18165" y="2347326"/>
            <a:ext cx="3492777" cy="7130090"/>
            <a:chOff x="0" y="0"/>
            <a:chExt cx="1755387" cy="35834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387" cy="3583414"/>
            </a:xfrm>
            <a:custGeom>
              <a:avLst/>
              <a:gdLst/>
              <a:ahLst/>
              <a:cxnLst/>
              <a:rect l="l" t="t" r="r" b="b"/>
              <a:pathLst>
                <a:path w="1755387" h="3583414">
                  <a:moveTo>
                    <a:pt x="0" y="0"/>
                  </a:moveTo>
                  <a:lnTo>
                    <a:pt x="1755387" y="0"/>
                  </a:lnTo>
                  <a:lnTo>
                    <a:pt x="1755387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755387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37849" y="4720123"/>
            <a:ext cx="2453409" cy="2624889"/>
            <a:chOff x="0" y="0"/>
            <a:chExt cx="504817" cy="5401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4817" cy="540101"/>
            </a:xfrm>
            <a:custGeom>
              <a:avLst/>
              <a:gdLst/>
              <a:ahLst/>
              <a:cxnLst/>
              <a:rect l="l" t="t" r="r" b="b"/>
              <a:pathLst>
                <a:path w="504817" h="540101">
                  <a:moveTo>
                    <a:pt x="0" y="0"/>
                  </a:moveTo>
                  <a:lnTo>
                    <a:pt x="504817" y="0"/>
                  </a:lnTo>
                  <a:lnTo>
                    <a:pt x="504817" y="540101"/>
                  </a:lnTo>
                  <a:lnTo>
                    <a:pt x="0" y="540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504817" cy="530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Modeling with new data signal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87191" y="2347326"/>
            <a:ext cx="6307861" cy="7130090"/>
            <a:chOff x="0" y="0"/>
            <a:chExt cx="3170181" cy="35834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0181" cy="3583414"/>
            </a:xfrm>
            <a:custGeom>
              <a:avLst/>
              <a:gdLst/>
              <a:ahLst/>
              <a:cxnLst/>
              <a:rect l="l" t="t" r="r" b="b"/>
              <a:pathLst>
                <a:path w="3170181" h="3583414">
                  <a:moveTo>
                    <a:pt x="0" y="0"/>
                  </a:moveTo>
                  <a:lnTo>
                    <a:pt x="3170181" y="0"/>
                  </a:lnTo>
                  <a:lnTo>
                    <a:pt x="3170181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70181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03641" y="4720123"/>
            <a:ext cx="2078481" cy="2624889"/>
            <a:chOff x="0" y="0"/>
            <a:chExt cx="427671" cy="54010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7671" cy="540101"/>
            </a:xfrm>
            <a:custGeom>
              <a:avLst/>
              <a:gdLst/>
              <a:ahLst/>
              <a:cxnLst/>
              <a:rect l="l" t="t" r="r" b="b"/>
              <a:pathLst>
                <a:path w="427671" h="540101">
                  <a:moveTo>
                    <a:pt x="0" y="0"/>
                  </a:moveTo>
                  <a:lnTo>
                    <a:pt x="427671" y="0"/>
                  </a:lnTo>
                  <a:lnTo>
                    <a:pt x="427671" y="540101"/>
                  </a:lnTo>
                  <a:lnTo>
                    <a:pt x="0" y="540101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ln w="38100" cap="sq">
              <a:noFill/>
              <a:prstDash val="dash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427671" cy="530576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Adjusted valuation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 rot="-10858">
            <a:off x="11503660" y="7890584"/>
            <a:ext cx="2078481" cy="701144"/>
            <a:chOff x="0" y="0"/>
            <a:chExt cx="427671" cy="1442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7671" cy="144268"/>
            </a:xfrm>
            <a:custGeom>
              <a:avLst/>
              <a:gdLst/>
              <a:ahLst/>
              <a:cxnLst/>
              <a:rect l="l" t="t" r="r" b="b"/>
              <a:pathLst>
                <a:path w="427671" h="144268">
                  <a:moveTo>
                    <a:pt x="0" y="0"/>
                  </a:moveTo>
                  <a:lnTo>
                    <a:pt x="427671" y="0"/>
                  </a:lnTo>
                  <a:lnTo>
                    <a:pt x="427671" y="144268"/>
                  </a:lnTo>
                  <a:lnTo>
                    <a:pt x="0" y="144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27671" cy="13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Market price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80882" y="6198640"/>
            <a:ext cx="3086100" cy="1146372"/>
            <a:chOff x="0" y="0"/>
            <a:chExt cx="635000" cy="23587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235879"/>
            </a:xfrm>
            <a:custGeom>
              <a:avLst/>
              <a:gdLst/>
              <a:ahLst/>
              <a:cxnLst/>
              <a:rect l="l" t="t" r="r" b="b"/>
              <a:pathLst>
                <a:path w="635000" h="235879">
                  <a:moveTo>
                    <a:pt x="0" y="0"/>
                  </a:moveTo>
                  <a:lnTo>
                    <a:pt x="635000" y="0"/>
                  </a:lnTo>
                  <a:lnTo>
                    <a:pt x="635000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635000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Modeling using Multiples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848947" y="4701073"/>
            <a:ext cx="2078481" cy="4101168"/>
            <a:chOff x="0" y="0"/>
            <a:chExt cx="427671" cy="8438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7671" cy="843862"/>
            </a:xfrm>
            <a:custGeom>
              <a:avLst/>
              <a:gdLst/>
              <a:ahLst/>
              <a:cxnLst/>
              <a:rect l="l" t="t" r="r" b="b"/>
              <a:pathLst>
                <a:path w="427671" h="843862">
                  <a:moveTo>
                    <a:pt x="0" y="0"/>
                  </a:moveTo>
                  <a:lnTo>
                    <a:pt x="427671" y="0"/>
                  </a:lnTo>
                  <a:lnTo>
                    <a:pt x="427671" y="843862"/>
                  </a:lnTo>
                  <a:lnTo>
                    <a:pt x="0" y="843862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ln w="38100" cap="sq">
              <a:noFill/>
              <a:prstDash val="dash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427671" cy="834337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Discrepency value</a:t>
              </a:r>
            </a:p>
            <a:p>
              <a:pPr algn="ctr">
                <a:lnSpc>
                  <a:spcPts val="2131"/>
                </a:lnSpc>
              </a:pPr>
              <a:endParaRPr lang="en-US" sz="2395" b="1">
                <a:solidFill>
                  <a:srgbClr val="FDFCFF"/>
                </a:solidFill>
                <a:latin typeface="Carlito Bold"/>
                <a:ea typeface="Carlito Bold"/>
                <a:cs typeface="Carlito Bold"/>
                <a:sym typeface="Carlito Bold"/>
              </a:endParaRPr>
            </a:p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&amp;</a:t>
              </a:r>
            </a:p>
            <a:p>
              <a:pPr algn="ctr">
                <a:lnSpc>
                  <a:spcPts val="2131"/>
                </a:lnSpc>
              </a:pPr>
              <a:endParaRPr lang="en-US" sz="2395" b="1">
                <a:solidFill>
                  <a:srgbClr val="FDFCFF"/>
                </a:solidFill>
                <a:latin typeface="Carlito Bold"/>
                <a:ea typeface="Carlito Bold"/>
                <a:cs typeface="Carlito Bold"/>
                <a:sym typeface="Carlito Bold"/>
              </a:endParaRPr>
            </a:p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Investment suggestion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9126" y="3516684"/>
            <a:ext cx="1868657" cy="635228"/>
            <a:chOff x="0" y="0"/>
            <a:chExt cx="396028" cy="1346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6028" cy="134625"/>
            </a:xfrm>
            <a:custGeom>
              <a:avLst/>
              <a:gdLst/>
              <a:ahLst/>
              <a:cxnLst/>
              <a:rect l="l" t="t" r="r" b="b"/>
              <a:pathLst>
                <a:path w="396028" h="134625">
                  <a:moveTo>
                    <a:pt x="0" y="0"/>
                  </a:moveTo>
                  <a:lnTo>
                    <a:pt x="396028" y="0"/>
                  </a:lnTo>
                  <a:lnTo>
                    <a:pt x="396028" y="134625"/>
                  </a:lnTo>
                  <a:lnTo>
                    <a:pt x="0" y="134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396028" cy="12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Global trends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2707309" y="5312359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>
            <a:off x="2742856" y="6751657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AutoShape 43"/>
          <p:cNvSpPr/>
          <p:nvPr/>
        </p:nvSpPr>
        <p:spPr>
          <a:xfrm>
            <a:off x="7063640" y="6011784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4" name="Group 44"/>
          <p:cNvGrpSpPr/>
          <p:nvPr/>
        </p:nvGrpSpPr>
        <p:grpSpPr>
          <a:xfrm>
            <a:off x="6449283" y="5169351"/>
            <a:ext cx="625714" cy="1726433"/>
            <a:chOff x="0" y="0"/>
            <a:chExt cx="834286" cy="2301911"/>
          </a:xfrm>
        </p:grpSpPr>
        <p:sp>
          <p:nvSpPr>
            <p:cNvPr id="45" name="AutoShape 45"/>
            <p:cNvSpPr/>
            <p:nvPr/>
          </p:nvSpPr>
          <p:spPr>
            <a:xfrm flipV="1">
              <a:off x="0" y="25400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AutoShape 46"/>
            <p:cNvSpPr/>
            <p:nvPr/>
          </p:nvSpPr>
          <p:spPr>
            <a:xfrm flipV="1">
              <a:off x="0" y="2276511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" name="AutoShape 47"/>
            <p:cNvSpPr/>
            <p:nvPr/>
          </p:nvSpPr>
          <p:spPr>
            <a:xfrm flipH="1">
              <a:off x="808886" y="25400"/>
              <a:ext cx="0" cy="22511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8" name="AutoShape 48"/>
          <p:cNvSpPr/>
          <p:nvPr/>
        </p:nvSpPr>
        <p:spPr>
          <a:xfrm flipH="1">
            <a:off x="3906788" y="3835396"/>
            <a:ext cx="0" cy="8847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AutoShape 49"/>
          <p:cNvSpPr/>
          <p:nvPr/>
        </p:nvSpPr>
        <p:spPr>
          <a:xfrm>
            <a:off x="1763455" y="7344911"/>
            <a:ext cx="0" cy="9032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>
            <a:off x="1763431" y="8244439"/>
            <a:ext cx="97402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1" name="AutoShape 51"/>
          <p:cNvSpPr/>
          <p:nvPr/>
        </p:nvSpPr>
        <p:spPr>
          <a:xfrm>
            <a:off x="10191257" y="6030834"/>
            <a:ext cx="1312384" cy="17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2" name="AutoShape 52"/>
          <p:cNvSpPr/>
          <p:nvPr/>
        </p:nvSpPr>
        <p:spPr>
          <a:xfrm>
            <a:off x="14174738" y="7364206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3" name="Group 53"/>
          <p:cNvGrpSpPr/>
          <p:nvPr/>
        </p:nvGrpSpPr>
        <p:grpSpPr>
          <a:xfrm>
            <a:off x="13560381" y="6521773"/>
            <a:ext cx="625714" cy="1726433"/>
            <a:chOff x="0" y="0"/>
            <a:chExt cx="834286" cy="2301911"/>
          </a:xfrm>
        </p:grpSpPr>
        <p:sp>
          <p:nvSpPr>
            <p:cNvPr id="54" name="AutoShape 54"/>
            <p:cNvSpPr/>
            <p:nvPr/>
          </p:nvSpPr>
          <p:spPr>
            <a:xfrm flipV="1">
              <a:off x="0" y="25400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AutoShape 55"/>
            <p:cNvSpPr/>
            <p:nvPr/>
          </p:nvSpPr>
          <p:spPr>
            <a:xfrm flipV="1">
              <a:off x="0" y="2276511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AutoShape 56"/>
            <p:cNvSpPr/>
            <p:nvPr/>
          </p:nvSpPr>
          <p:spPr>
            <a:xfrm flipH="1">
              <a:off x="808886" y="25400"/>
              <a:ext cx="0" cy="22511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7" name="AutoShape 57"/>
          <p:cNvSpPr/>
          <p:nvPr/>
        </p:nvSpPr>
        <p:spPr>
          <a:xfrm flipV="1">
            <a:off x="2697784" y="3834298"/>
            <a:ext cx="12375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" name="AutoShape 58"/>
          <p:cNvSpPr/>
          <p:nvPr/>
        </p:nvSpPr>
        <p:spPr>
          <a:xfrm flipV="1">
            <a:off x="9901316" y="7345012"/>
            <a:ext cx="0" cy="1706296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59" name="AutoShape 59"/>
          <p:cNvSpPr/>
          <p:nvPr/>
        </p:nvSpPr>
        <p:spPr>
          <a:xfrm>
            <a:off x="9901316" y="9051308"/>
            <a:ext cx="554595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 flipH="1" flipV="1">
            <a:off x="15428218" y="8802241"/>
            <a:ext cx="9525" cy="23971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1" name="Freeform 61"/>
          <p:cNvSpPr/>
          <p:nvPr/>
        </p:nvSpPr>
        <p:spPr>
          <a:xfrm>
            <a:off x="4361834" y="7344911"/>
            <a:ext cx="1162296" cy="653792"/>
          </a:xfrm>
          <a:custGeom>
            <a:avLst/>
            <a:gdLst/>
            <a:ahLst/>
            <a:cxnLst/>
            <a:rect l="l" t="t" r="r" b="b"/>
            <a:pathLst>
              <a:path w="1162296" h="653792">
                <a:moveTo>
                  <a:pt x="0" y="0"/>
                </a:moveTo>
                <a:lnTo>
                  <a:pt x="1162296" y="0"/>
                </a:lnTo>
                <a:lnTo>
                  <a:pt x="1162296" y="653792"/>
                </a:lnTo>
                <a:lnTo>
                  <a:pt x="0" y="65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4463869" y="3834298"/>
            <a:ext cx="884727" cy="884727"/>
          </a:xfrm>
          <a:custGeom>
            <a:avLst/>
            <a:gdLst/>
            <a:ahLst/>
            <a:cxnLst/>
            <a:rect l="l" t="t" r="r" b="b"/>
            <a:pathLst>
              <a:path w="884727" h="884727">
                <a:moveTo>
                  <a:pt x="0" y="0"/>
                </a:moveTo>
                <a:lnTo>
                  <a:pt x="884728" y="0"/>
                </a:lnTo>
                <a:lnTo>
                  <a:pt x="884728" y="884727"/>
                </a:lnTo>
                <a:lnTo>
                  <a:pt x="0" y="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88" r="-38888"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8120488" y="3834298"/>
            <a:ext cx="884727" cy="884727"/>
          </a:xfrm>
          <a:custGeom>
            <a:avLst/>
            <a:gdLst/>
            <a:ahLst/>
            <a:cxnLst/>
            <a:rect l="l" t="t" r="r" b="b"/>
            <a:pathLst>
              <a:path w="884727" h="884727">
                <a:moveTo>
                  <a:pt x="0" y="0"/>
                </a:moveTo>
                <a:lnTo>
                  <a:pt x="884728" y="0"/>
                </a:lnTo>
                <a:lnTo>
                  <a:pt x="884728" y="884727"/>
                </a:lnTo>
                <a:lnTo>
                  <a:pt x="0" y="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88" r="-38888"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9005216" y="3949766"/>
            <a:ext cx="1162296" cy="653792"/>
          </a:xfrm>
          <a:custGeom>
            <a:avLst/>
            <a:gdLst/>
            <a:ahLst/>
            <a:cxnLst/>
            <a:rect l="l" t="t" r="r" b="b"/>
            <a:pathLst>
              <a:path w="1162296" h="653792">
                <a:moveTo>
                  <a:pt x="0" y="0"/>
                </a:moveTo>
                <a:lnTo>
                  <a:pt x="1162296" y="0"/>
                </a:lnTo>
                <a:lnTo>
                  <a:pt x="1162296" y="653792"/>
                </a:lnTo>
                <a:lnTo>
                  <a:pt x="0" y="65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997044" y="7332060"/>
            <a:ext cx="1516023" cy="555243"/>
          </a:xfrm>
          <a:custGeom>
            <a:avLst/>
            <a:gdLst/>
            <a:ahLst/>
            <a:cxnLst/>
            <a:rect l="l" t="t" r="r" b="b"/>
            <a:pathLst>
              <a:path w="1516023" h="555243">
                <a:moveTo>
                  <a:pt x="0" y="0"/>
                </a:moveTo>
                <a:lnTo>
                  <a:pt x="1516023" y="0"/>
                </a:lnTo>
                <a:lnTo>
                  <a:pt x="1516023" y="555243"/>
                </a:lnTo>
                <a:lnTo>
                  <a:pt x="0" y="555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677197" y="2308393"/>
            <a:ext cx="2155717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Input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326386" y="2308393"/>
            <a:ext cx="337873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Data Process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75187" y="2308393"/>
            <a:ext cx="337873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Valuation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34816" y="2308393"/>
            <a:ext cx="6212611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Output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62595" y="7687912"/>
            <a:ext cx="2066483" cy="170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Feedback training data from market success/failure </a:t>
            </a:r>
          </a:p>
        </p:txBody>
      </p:sp>
      <p:sp>
        <p:nvSpPr>
          <p:cNvPr id="71" name="Freeform 71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503" r="-50142" b="-78229"/>
            </a:stretch>
          </a:blipFill>
        </p:spPr>
      </p:sp>
      <p:grpSp>
        <p:nvGrpSpPr>
          <p:cNvPr id="72" name="Group 72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2899" y="516481"/>
            <a:ext cx="2962212" cy="512219"/>
            <a:chOff x="0" y="0"/>
            <a:chExt cx="780171" cy="13490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80171" cy="134906"/>
            </a:xfrm>
            <a:custGeom>
              <a:avLst/>
              <a:gdLst/>
              <a:ahLst/>
              <a:cxnLst/>
              <a:rect l="l" t="t" r="r" b="b"/>
              <a:pathLst>
                <a:path w="780171" h="134906">
                  <a:moveTo>
                    <a:pt x="67453" y="0"/>
                  </a:moveTo>
                  <a:lnTo>
                    <a:pt x="712718" y="0"/>
                  </a:lnTo>
                  <a:cubicBezTo>
                    <a:pt x="749972" y="0"/>
                    <a:pt x="780171" y="30200"/>
                    <a:pt x="780171" y="67453"/>
                  </a:cubicBezTo>
                  <a:lnTo>
                    <a:pt x="780171" y="67453"/>
                  </a:lnTo>
                  <a:cubicBezTo>
                    <a:pt x="780171" y="104706"/>
                    <a:pt x="749972" y="134906"/>
                    <a:pt x="712718" y="134906"/>
                  </a:cubicBezTo>
                  <a:lnTo>
                    <a:pt x="67453" y="134906"/>
                  </a:lnTo>
                  <a:cubicBezTo>
                    <a:pt x="30200" y="134906"/>
                    <a:pt x="0" y="104706"/>
                    <a:pt x="0" y="67453"/>
                  </a:cubicBezTo>
                  <a:lnTo>
                    <a:pt x="0" y="67453"/>
                  </a:lnTo>
                  <a:cubicBezTo>
                    <a:pt x="0" y="30200"/>
                    <a:pt x="30200" y="0"/>
                    <a:pt x="674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7" name="TextBox 77"/>
            <p:cNvSpPr txBox="1"/>
            <p:nvPr/>
          </p:nvSpPr>
          <p:spPr>
            <a:xfrm>
              <a:off x="0" y="19050"/>
              <a:ext cx="780171" cy="11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677197" y="580763"/>
            <a:ext cx="27398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u="sng" dirty="0">
                <a:solidFill>
                  <a:schemeClr val="bg1"/>
                </a:solidFill>
                <a:latin typeface="Carlito Bold"/>
                <a:ea typeface="Carlito Bold"/>
                <a:cs typeface="Carlito Bold"/>
                <a:sym typeface="Carlito Bold"/>
                <a:hlinkClick r:id="rId8" tooltip="https://jarvis-oddo.lovable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 Works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02899" y="1261476"/>
            <a:ext cx="1708220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Real-time </a:t>
            </a:r>
            <a:r>
              <a:rPr lang="en-US" altLang="zh-CN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unstructured</a:t>
            </a:r>
            <a:r>
              <a:rPr lang="en-US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 data is turned into valuation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3976" y="5912454"/>
            <a:ext cx="16293012" cy="0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3" name="AutoShape 3"/>
          <p:cNvSpPr/>
          <p:nvPr/>
        </p:nvSpPr>
        <p:spPr>
          <a:xfrm flipV="1">
            <a:off x="8046208" y="2499726"/>
            <a:ext cx="0" cy="6591217"/>
          </a:xfrm>
          <a:prstGeom prst="line">
            <a:avLst/>
          </a:prstGeom>
          <a:ln w="381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4" name="Freeform 4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503" r="-50142" b="-7822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02899" y="516481"/>
            <a:ext cx="4146636" cy="512219"/>
            <a:chOff x="0" y="0"/>
            <a:chExt cx="1092118" cy="1349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2118" cy="134906"/>
            </a:xfrm>
            <a:custGeom>
              <a:avLst/>
              <a:gdLst/>
              <a:ahLst/>
              <a:cxnLst/>
              <a:rect l="l" t="t" r="r" b="b"/>
              <a:pathLst>
                <a:path w="1092118" h="134906">
                  <a:moveTo>
                    <a:pt x="67453" y="0"/>
                  </a:moveTo>
                  <a:lnTo>
                    <a:pt x="1024665" y="0"/>
                  </a:lnTo>
                  <a:cubicBezTo>
                    <a:pt x="1061918" y="0"/>
                    <a:pt x="1092118" y="30200"/>
                    <a:pt x="1092118" y="67453"/>
                  </a:cubicBezTo>
                  <a:lnTo>
                    <a:pt x="1092118" y="67453"/>
                  </a:lnTo>
                  <a:cubicBezTo>
                    <a:pt x="1092118" y="104706"/>
                    <a:pt x="1061918" y="134906"/>
                    <a:pt x="1024665" y="134906"/>
                  </a:cubicBezTo>
                  <a:lnTo>
                    <a:pt x="67453" y="134906"/>
                  </a:lnTo>
                  <a:cubicBezTo>
                    <a:pt x="30200" y="134906"/>
                    <a:pt x="0" y="104706"/>
                    <a:pt x="0" y="67453"/>
                  </a:cubicBezTo>
                  <a:lnTo>
                    <a:pt x="0" y="67453"/>
                  </a:lnTo>
                  <a:cubicBezTo>
                    <a:pt x="0" y="30200"/>
                    <a:pt x="30200" y="0"/>
                    <a:pt x="674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092118" cy="11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460038" y="7203595"/>
            <a:ext cx="2680126" cy="689093"/>
          </a:xfrm>
          <a:custGeom>
            <a:avLst/>
            <a:gdLst/>
            <a:ahLst/>
            <a:cxnLst/>
            <a:rect l="l" t="t" r="r" b="b"/>
            <a:pathLst>
              <a:path w="2680126" h="689093">
                <a:moveTo>
                  <a:pt x="0" y="0"/>
                </a:moveTo>
                <a:lnTo>
                  <a:pt x="2680126" y="0"/>
                </a:lnTo>
                <a:lnTo>
                  <a:pt x="2680126" y="689094"/>
                </a:lnTo>
                <a:lnTo>
                  <a:pt x="0" y="689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6566" b="-6220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36448" y="4287757"/>
            <a:ext cx="2500286" cy="571827"/>
          </a:xfrm>
          <a:custGeom>
            <a:avLst/>
            <a:gdLst/>
            <a:ahLst/>
            <a:cxnLst/>
            <a:rect l="l" t="t" r="r" b="b"/>
            <a:pathLst>
              <a:path w="2500286" h="571827">
                <a:moveTo>
                  <a:pt x="0" y="0"/>
                </a:moveTo>
                <a:lnTo>
                  <a:pt x="2500286" y="0"/>
                </a:lnTo>
                <a:lnTo>
                  <a:pt x="2500286" y="571827"/>
                </a:lnTo>
                <a:lnTo>
                  <a:pt x="0" y="571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03" t="-122459" r="-8606" b="-105503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4618472" y="2233247"/>
            <a:ext cx="2054518" cy="2054510"/>
            <a:chOff x="0" y="0"/>
            <a:chExt cx="6350000" cy="63499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id="15" name="Freeform 15"/>
          <p:cNvSpPr/>
          <p:nvPr/>
        </p:nvSpPr>
        <p:spPr>
          <a:xfrm>
            <a:off x="12351380" y="6531579"/>
            <a:ext cx="984481" cy="993171"/>
          </a:xfrm>
          <a:custGeom>
            <a:avLst/>
            <a:gdLst/>
            <a:ahLst/>
            <a:cxnLst/>
            <a:rect l="l" t="t" r="r" b="b"/>
            <a:pathLst>
              <a:path w="984481" h="993171">
                <a:moveTo>
                  <a:pt x="0" y="0"/>
                </a:moveTo>
                <a:lnTo>
                  <a:pt x="984481" y="0"/>
                </a:lnTo>
                <a:lnTo>
                  <a:pt x="984481" y="993171"/>
                </a:lnTo>
                <a:lnTo>
                  <a:pt x="0" y="9931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2899" y="9722029"/>
            <a:ext cx="105988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6E6E6E"/>
                </a:solidFill>
                <a:latin typeface="Carlito"/>
                <a:ea typeface="Carlito"/>
                <a:cs typeface="Carlito"/>
                <a:sym typeface="Carlito"/>
              </a:rPr>
              <a:t>Source: Bright Data (2026); Bloomberg (2026)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166" y="591540"/>
            <a:ext cx="3511061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Competitive Landscape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2899" y="1261476"/>
            <a:ext cx="1252376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No existing solutions have our edge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13405" y="6108220"/>
            <a:ext cx="3173393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34078D"/>
                </a:solidFill>
                <a:latin typeface="Carlito Bold"/>
                <a:ea typeface="Carlito Bold"/>
                <a:cs typeface="Carlito Bold"/>
                <a:sym typeface="Carlito Bold"/>
              </a:rPr>
              <a:t>Traditional financial data platforms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67778" y="5213276"/>
            <a:ext cx="3144121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Valuation-integration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0987" y="5213276"/>
            <a:ext cx="2118907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Unintegrated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6208" y="2166351"/>
            <a:ext cx="2493836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Forward-looking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59974" y="8957945"/>
            <a:ext cx="3822746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Current/Backward-looking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99894" y="3215877"/>
            <a:ext cx="3173393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34078D"/>
                </a:solidFill>
                <a:latin typeface="Carlito Bold"/>
                <a:ea typeface="Carlito Bold"/>
                <a:cs typeface="Carlito Bold"/>
                <a:sym typeface="Carlito Bold"/>
              </a:rPr>
              <a:t>Alternative data providers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99597" y="6497924"/>
            <a:ext cx="3173393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32008A"/>
                </a:solidFill>
                <a:latin typeface="Carlito Bold"/>
                <a:ea typeface="Carlito Bold"/>
                <a:cs typeface="Carlito Bold"/>
                <a:sym typeface="Carlito Bold"/>
              </a:rPr>
              <a:t>Quantitative or factor-based systems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4722371" y="2864445"/>
            <a:ext cx="1846721" cy="792115"/>
            <a:chOff x="0" y="0"/>
            <a:chExt cx="2462294" cy="10561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58077" cy="1056153"/>
            </a:xfrm>
            <a:custGeom>
              <a:avLst/>
              <a:gdLst/>
              <a:ahLst/>
              <a:cxnLst/>
              <a:rect l="l" t="t" r="r" b="b"/>
              <a:pathLst>
                <a:path w="1058077" h="1056153">
                  <a:moveTo>
                    <a:pt x="0" y="0"/>
                  </a:moveTo>
                  <a:lnTo>
                    <a:pt x="1058077" y="0"/>
                  </a:lnTo>
                  <a:lnTo>
                    <a:pt x="1058077" y="1056153"/>
                  </a:lnTo>
                  <a:lnTo>
                    <a:pt x="0" y="1056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239689" y="370330"/>
              <a:ext cx="1222605" cy="372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00"/>
                </a:lnSpc>
              </a:pPr>
              <a:r>
                <a:rPr lang="en-US" sz="2135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53954" y="205876"/>
              <a:ext cx="188705" cy="322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98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418917" y="6435616"/>
            <a:ext cx="2493692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32008A"/>
                </a:solidFill>
                <a:latin typeface="Carlito Bold"/>
                <a:ea typeface="Carlito Bold"/>
                <a:cs typeface="Carlito Bold"/>
                <a:sym typeface="Carlito Bold"/>
              </a:rPr>
              <a:t>Other AI-driven analytics tools</a:t>
            </a:r>
          </a:p>
        </p:txBody>
      </p:sp>
      <p:sp>
        <p:nvSpPr>
          <p:cNvPr id="31" name="Freeform 31"/>
          <p:cNvSpPr/>
          <p:nvPr/>
        </p:nvSpPr>
        <p:spPr>
          <a:xfrm>
            <a:off x="2665697" y="6531579"/>
            <a:ext cx="884727" cy="884727"/>
          </a:xfrm>
          <a:custGeom>
            <a:avLst/>
            <a:gdLst/>
            <a:ahLst/>
            <a:cxnLst/>
            <a:rect l="l" t="t" r="r" b="b"/>
            <a:pathLst>
              <a:path w="884727" h="884727">
                <a:moveTo>
                  <a:pt x="0" y="0"/>
                </a:moveTo>
                <a:lnTo>
                  <a:pt x="884728" y="0"/>
                </a:lnTo>
                <a:lnTo>
                  <a:pt x="884728" y="884727"/>
                </a:lnTo>
                <a:lnTo>
                  <a:pt x="0" y="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8888" r="-38888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30" t="2548" r="1130"/>
          <a:stretch>
            <a:fillRect/>
          </a:stretch>
        </p:blipFill>
        <p:spPr>
          <a:xfrm>
            <a:off x="25400" y="0"/>
            <a:ext cx="18262600" cy="10242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74237" y="5064979"/>
            <a:ext cx="635942" cy="25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7"/>
              </a:lnSpc>
            </a:pPr>
            <a:r>
              <a:rPr lang="en-US" sz="1555" b="1" spc="-6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0.5%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53382" y="5064979"/>
            <a:ext cx="577909" cy="25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7"/>
              </a:lnSpc>
            </a:pPr>
            <a:r>
              <a:rPr lang="en-US" sz="1555" b="1" spc="-62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0.8%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9447" y="6323609"/>
            <a:ext cx="36798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 spc="-5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0.5%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9059" y="6380608"/>
            <a:ext cx="43374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6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0.8%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46384" y="6411874"/>
            <a:ext cx="430768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63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0.5%</a:t>
            </a:r>
          </a:p>
        </p:txBody>
      </p:sp>
      <p:sp>
        <p:nvSpPr>
          <p:cNvPr id="7" name="Freeform 7"/>
          <p:cNvSpPr/>
          <p:nvPr/>
        </p:nvSpPr>
        <p:spPr>
          <a:xfrm>
            <a:off x="12009326" y="7768154"/>
            <a:ext cx="856077" cy="884834"/>
          </a:xfrm>
          <a:custGeom>
            <a:avLst/>
            <a:gdLst/>
            <a:ahLst/>
            <a:cxnLst/>
            <a:rect l="l" t="t" r="r" b="b"/>
            <a:pathLst>
              <a:path w="856077" h="884834">
                <a:moveTo>
                  <a:pt x="0" y="0"/>
                </a:moveTo>
                <a:lnTo>
                  <a:pt x="856077" y="0"/>
                </a:lnTo>
                <a:lnTo>
                  <a:pt x="856077" y="884834"/>
                </a:lnTo>
                <a:lnTo>
                  <a:pt x="0" y="88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862767" y="6010190"/>
            <a:ext cx="1010750" cy="1010750"/>
          </a:xfrm>
          <a:custGeom>
            <a:avLst/>
            <a:gdLst/>
            <a:ahLst/>
            <a:cxnLst/>
            <a:rect l="l" t="t" r="r" b="b"/>
            <a:pathLst>
              <a:path w="1010750" h="1010750">
                <a:moveTo>
                  <a:pt x="0" y="0"/>
                </a:moveTo>
                <a:lnTo>
                  <a:pt x="1010750" y="0"/>
                </a:lnTo>
                <a:lnTo>
                  <a:pt x="1010750" y="1010750"/>
                </a:lnTo>
                <a:lnTo>
                  <a:pt x="0" y="101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62767" y="4252061"/>
            <a:ext cx="1048949" cy="1029281"/>
          </a:xfrm>
          <a:custGeom>
            <a:avLst/>
            <a:gdLst/>
            <a:ahLst/>
            <a:cxnLst/>
            <a:rect l="l" t="t" r="r" b="b"/>
            <a:pathLst>
              <a:path w="1048949" h="1029281">
                <a:moveTo>
                  <a:pt x="0" y="0"/>
                </a:moveTo>
                <a:lnTo>
                  <a:pt x="1048950" y="0"/>
                </a:lnTo>
                <a:lnTo>
                  <a:pt x="1048950" y="1029282"/>
                </a:lnTo>
                <a:lnTo>
                  <a:pt x="0" y="1029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1953734" y="2573759"/>
            <a:ext cx="967260" cy="891088"/>
          </a:xfrm>
          <a:custGeom>
            <a:avLst/>
            <a:gdLst/>
            <a:ahLst/>
            <a:cxnLst/>
            <a:rect l="l" t="t" r="r" b="b"/>
            <a:pathLst>
              <a:path w="967260" h="891088">
                <a:moveTo>
                  <a:pt x="0" y="0"/>
                </a:moveTo>
                <a:lnTo>
                  <a:pt x="967260" y="0"/>
                </a:lnTo>
                <a:lnTo>
                  <a:pt x="967260" y="891088"/>
                </a:lnTo>
                <a:lnTo>
                  <a:pt x="0" y="891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6609" y="1688355"/>
            <a:ext cx="12783710" cy="8345096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3503" r="-50142" b="-78229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058901" y="2738315"/>
            <a:ext cx="420039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Early stock selection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58901" y="4223777"/>
            <a:ext cx="4200399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Valuation-first integration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58901" y="6185970"/>
            <a:ext cx="420039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E6272F"/>
                </a:solidFill>
                <a:latin typeface="Cerebri Bold"/>
                <a:ea typeface="Cerebri Bold"/>
                <a:cs typeface="Cerebri Bold"/>
                <a:sym typeface="Cerebri Bold"/>
              </a:rPr>
              <a:t>Continuous learning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58901" y="7711004"/>
            <a:ext cx="4200399" cy="104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E6272F"/>
                </a:solidFill>
                <a:latin typeface="Cerebri Bold"/>
                <a:ea typeface="Cerebri Bold"/>
                <a:cs typeface="Cerebri Bold"/>
                <a:sym typeface="Cerebri Bold"/>
              </a:rPr>
              <a:t>Scalable use of </a:t>
            </a:r>
            <a:r>
              <a:rPr lang="en-US" altLang="zh-CN" sz="2999" b="1" dirty="0">
                <a:solidFill>
                  <a:srgbClr val="E6272F"/>
                </a:solidFill>
                <a:latin typeface="Cerebri Bold"/>
                <a:ea typeface="Cerebri Bold"/>
                <a:cs typeface="Cerebri Bold"/>
                <a:sym typeface="Cerebri Bold"/>
              </a:rPr>
              <a:t>unstructured</a:t>
            </a:r>
            <a:r>
              <a:rPr lang="en-US" sz="2999" b="1" dirty="0">
                <a:solidFill>
                  <a:srgbClr val="E6272F"/>
                </a:solidFill>
                <a:latin typeface="Cerebri Bold"/>
                <a:ea typeface="Cerebri Bold"/>
                <a:cs typeface="Cerebri Bold"/>
                <a:sym typeface="Cerebri Bold"/>
              </a:rPr>
              <a:t> data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2753" y="7914247"/>
            <a:ext cx="3257431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Short-term alpha Uplift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5259" y="5986580"/>
            <a:ext cx="4174450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Long-term alpha &amp;AUM Uplift 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2899" y="516481"/>
            <a:ext cx="2565664" cy="497181"/>
            <a:chOff x="0" y="0"/>
            <a:chExt cx="675730" cy="1309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16434" y="571696"/>
            <a:ext cx="2138594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Value Creation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2899" y="1261476"/>
            <a:ext cx="170822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Creating value through better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208" y="430204"/>
            <a:ext cx="1899047" cy="423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Our Roadmap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6285" y="5348895"/>
            <a:ext cx="230145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400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MVP1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44955" y="5812838"/>
            <a:ext cx="22034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F9F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MVP3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2899" y="6312650"/>
            <a:ext cx="4732422" cy="6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94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Valuation integration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5384711" y="8008965"/>
            <a:ext cx="4901993" cy="1870413"/>
            <a:chOff x="0" y="0"/>
            <a:chExt cx="1236081" cy="4716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6081" cy="471642"/>
            </a:xfrm>
            <a:custGeom>
              <a:avLst/>
              <a:gdLst/>
              <a:ahLst/>
              <a:cxnLst/>
              <a:rect l="l" t="t" r="r" b="b"/>
              <a:pathLst>
                <a:path w="1236081" h="471642">
                  <a:moveTo>
                    <a:pt x="0" y="0"/>
                  </a:moveTo>
                  <a:lnTo>
                    <a:pt x="1236081" y="0"/>
                  </a:lnTo>
                  <a:lnTo>
                    <a:pt x="1236081" y="471642"/>
                  </a:lnTo>
                  <a:lnTo>
                    <a:pt x="0" y="471642"/>
                  </a:lnTo>
                  <a:close/>
                </a:path>
              </a:pathLst>
            </a:custGeom>
            <a:solidFill>
              <a:srgbClr val="570B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36081" cy="481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00500" y="6022388"/>
            <a:ext cx="4550904" cy="1453700"/>
          </a:xfrm>
          <a:custGeom>
            <a:avLst/>
            <a:gdLst/>
            <a:ahLst/>
            <a:cxnLst/>
            <a:rect l="l" t="t" r="r" b="b"/>
            <a:pathLst>
              <a:path w="4550904" h="1453700">
                <a:moveTo>
                  <a:pt x="0" y="0"/>
                </a:moveTo>
                <a:lnTo>
                  <a:pt x="4550904" y="0"/>
                </a:lnTo>
                <a:lnTo>
                  <a:pt x="4550904" y="1453701"/>
                </a:lnTo>
                <a:lnTo>
                  <a:pt x="0" y="1453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9029" b="-15854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20186" y="2719887"/>
            <a:ext cx="230145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400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MVP2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11575131" y="7234462"/>
            <a:ext cx="4901993" cy="1889110"/>
            <a:chOff x="0" y="0"/>
            <a:chExt cx="1236081" cy="4763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6081" cy="476356"/>
            </a:xfrm>
            <a:custGeom>
              <a:avLst/>
              <a:gdLst/>
              <a:ahLst/>
              <a:cxnLst/>
              <a:rect l="l" t="t" r="r" b="b"/>
              <a:pathLst>
                <a:path w="1236081" h="476356">
                  <a:moveTo>
                    <a:pt x="0" y="0"/>
                  </a:moveTo>
                  <a:lnTo>
                    <a:pt x="1236081" y="0"/>
                  </a:lnTo>
                  <a:lnTo>
                    <a:pt x="1236081" y="476356"/>
                  </a:lnTo>
                  <a:lnTo>
                    <a:pt x="0" y="476356"/>
                  </a:lnTo>
                  <a:close/>
                </a:path>
              </a:pathLst>
            </a:custGeom>
            <a:solidFill>
              <a:srgbClr val="9091F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236081" cy="485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080346" y="5150798"/>
            <a:ext cx="4451917" cy="1422081"/>
          </a:xfrm>
          <a:custGeom>
            <a:avLst/>
            <a:gdLst/>
            <a:ahLst/>
            <a:cxnLst/>
            <a:rect l="l" t="t" r="r" b="b"/>
            <a:pathLst>
              <a:path w="4451917" h="1422081">
                <a:moveTo>
                  <a:pt x="0" y="0"/>
                </a:moveTo>
                <a:lnTo>
                  <a:pt x="4451917" y="0"/>
                </a:lnTo>
                <a:lnTo>
                  <a:pt x="4451917" y="1422081"/>
                </a:lnTo>
                <a:lnTo>
                  <a:pt x="0" y="1422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9029" b="-15854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204580" y="2415087"/>
            <a:ext cx="220345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400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MVP3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21602" y="3505588"/>
            <a:ext cx="6453357" cy="1924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Lagged Signal Generation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Time-Specific Expert Models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Backtesting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80959" y="3165235"/>
            <a:ext cx="4997802" cy="128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Expand data source</a:t>
            </a:r>
          </a:p>
          <a:p>
            <a:pPr marL="647697" lvl="1" indent="-323848" algn="l">
              <a:lnSpc>
                <a:spcPts val="509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Automated evaluation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-646111" y="9327016"/>
            <a:ext cx="4901993" cy="1870413"/>
            <a:chOff x="0" y="0"/>
            <a:chExt cx="1236081" cy="4716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6081" cy="471642"/>
            </a:xfrm>
            <a:custGeom>
              <a:avLst/>
              <a:gdLst/>
              <a:ahLst/>
              <a:cxnLst/>
              <a:rect l="l" t="t" r="r" b="b"/>
              <a:pathLst>
                <a:path w="1236081" h="471642">
                  <a:moveTo>
                    <a:pt x="0" y="0"/>
                  </a:moveTo>
                  <a:lnTo>
                    <a:pt x="1236081" y="0"/>
                  </a:lnTo>
                  <a:lnTo>
                    <a:pt x="1236081" y="471642"/>
                  </a:lnTo>
                  <a:lnTo>
                    <a:pt x="0" y="471642"/>
                  </a:lnTo>
                  <a:close/>
                </a:path>
              </a:pathLst>
            </a:custGeom>
            <a:solidFill>
              <a:srgbClr val="34078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236081" cy="481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69678" y="7484226"/>
            <a:ext cx="4550904" cy="1453700"/>
          </a:xfrm>
          <a:custGeom>
            <a:avLst/>
            <a:gdLst/>
            <a:ahLst/>
            <a:cxnLst/>
            <a:rect l="l" t="t" r="r" b="b"/>
            <a:pathLst>
              <a:path w="4550904" h="1453700">
                <a:moveTo>
                  <a:pt x="0" y="0"/>
                </a:moveTo>
                <a:lnTo>
                  <a:pt x="4550905" y="0"/>
                </a:lnTo>
                <a:lnTo>
                  <a:pt x="4550905" y="1453701"/>
                </a:lnTo>
                <a:lnTo>
                  <a:pt x="0" y="1453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9029" b="-158547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47168" y="7864692"/>
            <a:ext cx="384388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Feb. 1 - Mar. 31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35541" y="6434914"/>
            <a:ext cx="445314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Mar. 1 - May. 31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80346" y="5547514"/>
            <a:ext cx="417956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Jun. 1 - Sep. 31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503" r="-50142" b="-78229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35541" y="3671052"/>
            <a:ext cx="5889859" cy="1146372"/>
            <a:chOff x="0" y="0"/>
            <a:chExt cx="1290739" cy="23587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90739" cy="235879"/>
            </a:xfrm>
            <a:custGeom>
              <a:avLst/>
              <a:gdLst/>
              <a:ahLst/>
              <a:cxnLst/>
              <a:rect l="l" t="t" r="r" b="b"/>
              <a:pathLst>
                <a:path w="1290739" h="235879">
                  <a:moveTo>
                    <a:pt x="0" y="0"/>
                  </a:moveTo>
                  <a:lnTo>
                    <a:pt x="1290739" y="0"/>
                  </a:lnTo>
                  <a:lnTo>
                    <a:pt x="1290739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290739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H="1">
            <a:off x="5913205" y="4244237"/>
            <a:ext cx="92233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3" name="TextBox 33"/>
          <p:cNvSpPr txBox="1"/>
          <p:nvPr/>
        </p:nvSpPr>
        <p:spPr>
          <a:xfrm>
            <a:off x="1785387" y="3787037"/>
            <a:ext cx="408736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570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Addressing forward-looking bias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02899" y="516481"/>
            <a:ext cx="2565664" cy="497181"/>
            <a:chOff x="0" y="0"/>
            <a:chExt cx="675730" cy="13094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6" name="TextBox 36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02899" y="1261476"/>
            <a:ext cx="170822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Our focus tasks for the next 3 months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905" y="589463"/>
            <a:ext cx="2045078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Our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2899" y="516481"/>
            <a:ext cx="2565664" cy="497181"/>
            <a:chOff x="0" y="0"/>
            <a:chExt cx="675730" cy="1309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664" y="2697996"/>
            <a:ext cx="2420062" cy="24200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50000"/>
                  </a:srgbClr>
                </a:gs>
                <a:gs pos="50000">
                  <a:srgbClr val="042F81">
                    <a:alpha val="50000"/>
                  </a:srgbClr>
                </a:gs>
                <a:gs pos="100000">
                  <a:srgbClr val="2203B6">
                    <a:alpha val="5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2789" y="2697996"/>
            <a:ext cx="2489811" cy="2489801"/>
            <a:chOff x="0" y="0"/>
            <a:chExt cx="6350000" cy="6349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2606" b="-4748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92789" y="6097135"/>
            <a:ext cx="2489811" cy="2489801"/>
            <a:chOff x="0" y="0"/>
            <a:chExt cx="6350000" cy="6349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633856" y="2697996"/>
            <a:ext cx="2489811" cy="2489801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128024" y="2697996"/>
            <a:ext cx="2489811" cy="2489801"/>
            <a:chOff x="0" y="0"/>
            <a:chExt cx="6350000" cy="63499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dash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654189" y="6097135"/>
            <a:ext cx="2489811" cy="2489801"/>
            <a:chOff x="0" y="0"/>
            <a:chExt cx="6350000" cy="63499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503" r="-50142" b="-78229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128024" y="6097135"/>
            <a:ext cx="2489811" cy="2489801"/>
            <a:chOff x="0" y="0"/>
            <a:chExt cx="6350000" cy="63499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t="-6497" b="-6497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02899" y="1261476"/>
            <a:ext cx="170822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We are a motivated team with technical rigor and sharp execution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3192" y="571696"/>
            <a:ext cx="2045078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Team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17835" y="3384096"/>
            <a:ext cx="2671110" cy="108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Sarbajit Chatterjee</a:t>
            </a:r>
          </a:p>
          <a:p>
            <a:pPr algn="ctr">
              <a:lnSpc>
                <a:spcPts val="2750"/>
              </a:lnSpc>
            </a:pPr>
            <a:endParaRPr lang="en-US" sz="2500" b="1">
              <a:solidFill>
                <a:srgbClr val="040030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Product Architect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47726" y="3212646"/>
            <a:ext cx="2460149" cy="143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Violet Si</a:t>
            </a:r>
          </a:p>
          <a:p>
            <a:pPr algn="ctr">
              <a:lnSpc>
                <a:spcPts val="2750"/>
              </a:lnSpc>
            </a:pPr>
            <a:endParaRPr lang="en-US" sz="2500" b="1">
              <a:solidFill>
                <a:srgbClr val="040030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Operational &amp; Commercial Lead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4000" y="3384096"/>
            <a:ext cx="2460149" cy="108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Mohamed Raslan</a:t>
            </a:r>
          </a:p>
          <a:p>
            <a:pPr algn="ctr">
              <a:lnSpc>
                <a:spcPts val="2750"/>
              </a:lnSpc>
            </a:pPr>
            <a:endParaRPr lang="en-US" sz="2500" b="1">
              <a:solidFill>
                <a:srgbClr val="040030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Financial Lead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82601" y="6783235"/>
            <a:ext cx="2858510" cy="108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A2342"/>
                </a:solidFill>
                <a:latin typeface="Carlito Bold"/>
                <a:ea typeface="Carlito Bold"/>
                <a:cs typeface="Carlito Bold"/>
                <a:sym typeface="Carlito Bold"/>
              </a:rPr>
              <a:t>Rushan Mukherjee</a:t>
            </a:r>
          </a:p>
          <a:p>
            <a:pPr algn="ctr">
              <a:lnSpc>
                <a:spcPts val="2750"/>
              </a:lnSpc>
            </a:pPr>
            <a:endParaRPr lang="en-US" sz="2500" b="1">
              <a:solidFill>
                <a:srgbClr val="0A2342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0A2342"/>
                </a:solidFill>
                <a:latin typeface="Carlito"/>
                <a:ea typeface="Carlito"/>
                <a:cs typeface="Carlito"/>
                <a:sym typeface="Carlito"/>
              </a:rPr>
              <a:t>AI Expert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23667" y="6783235"/>
            <a:ext cx="2460149" cy="108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A2342"/>
                </a:solidFill>
                <a:latin typeface="Carlito Bold"/>
                <a:ea typeface="Carlito Bold"/>
                <a:cs typeface="Carlito Bold"/>
                <a:sym typeface="Carlito Bold"/>
              </a:rPr>
              <a:t>Dr. Ingolf Pernice</a:t>
            </a:r>
          </a:p>
          <a:p>
            <a:pPr algn="ctr">
              <a:lnSpc>
                <a:spcPts val="2750"/>
              </a:lnSpc>
            </a:pPr>
            <a:endParaRPr lang="en-US" sz="2500" b="1">
              <a:solidFill>
                <a:srgbClr val="0A2342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0A2342"/>
                </a:solidFill>
                <a:latin typeface="Carlito"/>
                <a:ea typeface="Carlito"/>
                <a:cs typeface="Carlito"/>
                <a:sym typeface="Carlito"/>
              </a:rPr>
              <a:t>Industry Advisor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17835" y="6954685"/>
            <a:ext cx="3067265" cy="74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A2342"/>
                </a:solidFill>
                <a:latin typeface="Carlito Bold"/>
                <a:ea typeface="Carlito Bold"/>
                <a:cs typeface="Carlito Bold"/>
                <a:sym typeface="Carlito Bold"/>
              </a:rPr>
              <a:t>Financial modeller</a:t>
            </a:r>
          </a:p>
          <a:p>
            <a:pPr algn="ctr">
              <a:lnSpc>
                <a:spcPts val="2750"/>
              </a:lnSpc>
              <a:spcBef>
                <a:spcPct val="0"/>
              </a:spcBef>
            </a:pPr>
            <a:endParaRPr lang="en-US" sz="2500" b="1">
              <a:solidFill>
                <a:srgbClr val="0A2342"/>
              </a:solidFill>
              <a:latin typeface="Carlito Bold"/>
              <a:ea typeface="Carlito Bold"/>
              <a:cs typeface="Carlito Bold"/>
              <a:sym typeface="Carlito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4989" y="3867260"/>
            <a:ext cx="7281897" cy="4552840"/>
            <a:chOff x="0" y="0"/>
            <a:chExt cx="818227" cy="511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8227" cy="511578"/>
            </a:xfrm>
            <a:custGeom>
              <a:avLst/>
              <a:gdLst/>
              <a:ahLst/>
              <a:cxnLst/>
              <a:rect l="l" t="t" r="r" b="b"/>
              <a:pathLst>
                <a:path w="818227" h="511578">
                  <a:moveTo>
                    <a:pt x="21263" y="0"/>
                  </a:moveTo>
                  <a:lnTo>
                    <a:pt x="796963" y="0"/>
                  </a:lnTo>
                  <a:cubicBezTo>
                    <a:pt x="802603" y="0"/>
                    <a:pt x="808011" y="2240"/>
                    <a:pt x="811999" y="6228"/>
                  </a:cubicBezTo>
                  <a:cubicBezTo>
                    <a:pt x="815987" y="10216"/>
                    <a:pt x="818227" y="15624"/>
                    <a:pt x="818227" y="21263"/>
                  </a:cubicBezTo>
                  <a:lnTo>
                    <a:pt x="818227" y="490314"/>
                  </a:lnTo>
                  <a:cubicBezTo>
                    <a:pt x="818227" y="502058"/>
                    <a:pt x="808707" y="511578"/>
                    <a:pt x="796963" y="511578"/>
                  </a:cubicBezTo>
                  <a:lnTo>
                    <a:pt x="21263" y="511578"/>
                  </a:lnTo>
                  <a:cubicBezTo>
                    <a:pt x="15624" y="511578"/>
                    <a:pt x="10216" y="509337"/>
                    <a:pt x="6228" y="505350"/>
                  </a:cubicBezTo>
                  <a:cubicBezTo>
                    <a:pt x="2240" y="501362"/>
                    <a:pt x="0" y="495954"/>
                    <a:pt x="0" y="490314"/>
                  </a:cubicBezTo>
                  <a:lnTo>
                    <a:pt x="0" y="21263"/>
                  </a:lnTo>
                  <a:cubicBezTo>
                    <a:pt x="0" y="15624"/>
                    <a:pt x="2240" y="10216"/>
                    <a:pt x="6228" y="6228"/>
                  </a:cubicBezTo>
                  <a:cubicBezTo>
                    <a:pt x="10216" y="2240"/>
                    <a:pt x="15624" y="0"/>
                    <a:pt x="212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8227" cy="540153"/>
            </a:xfrm>
            <a:prstGeom prst="rect">
              <a:avLst/>
            </a:prstGeom>
          </p:spPr>
          <p:txBody>
            <a:bodyPr lIns="100209" tIns="100209" rIns="100209" bIns="100209" rtlCol="0" anchor="ctr"/>
            <a:lstStyle/>
            <a:p>
              <a:pPr algn="ctr">
                <a:lnSpc>
                  <a:spcPts val="318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13892" y="2457559"/>
            <a:ext cx="4342405" cy="115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10k EUR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58474" y="3867260"/>
            <a:ext cx="7586526" cy="4552840"/>
            <a:chOff x="0" y="0"/>
            <a:chExt cx="852456" cy="511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2456" cy="511578"/>
            </a:xfrm>
            <a:custGeom>
              <a:avLst/>
              <a:gdLst/>
              <a:ahLst/>
              <a:cxnLst/>
              <a:rect l="l" t="t" r="r" b="b"/>
              <a:pathLst>
                <a:path w="852456" h="511578">
                  <a:moveTo>
                    <a:pt x="20410" y="0"/>
                  </a:moveTo>
                  <a:lnTo>
                    <a:pt x="832047" y="0"/>
                  </a:lnTo>
                  <a:cubicBezTo>
                    <a:pt x="843319" y="0"/>
                    <a:pt x="852456" y="9138"/>
                    <a:pt x="852456" y="20410"/>
                  </a:cubicBezTo>
                  <a:lnTo>
                    <a:pt x="852456" y="491168"/>
                  </a:lnTo>
                  <a:cubicBezTo>
                    <a:pt x="852456" y="502440"/>
                    <a:pt x="843319" y="511578"/>
                    <a:pt x="832047" y="511578"/>
                  </a:cubicBezTo>
                  <a:lnTo>
                    <a:pt x="20410" y="511578"/>
                  </a:lnTo>
                  <a:cubicBezTo>
                    <a:pt x="9138" y="511578"/>
                    <a:pt x="0" y="502440"/>
                    <a:pt x="0" y="491168"/>
                  </a:cubicBezTo>
                  <a:lnTo>
                    <a:pt x="0" y="20410"/>
                  </a:lnTo>
                  <a:cubicBezTo>
                    <a:pt x="0" y="9138"/>
                    <a:pt x="9138" y="0"/>
                    <a:pt x="204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52456" cy="540153"/>
            </a:xfrm>
            <a:prstGeom prst="rect">
              <a:avLst/>
            </a:prstGeom>
          </p:spPr>
          <p:txBody>
            <a:bodyPr lIns="100209" tIns="100209" rIns="100209" bIns="100209" rtlCol="0" anchor="ctr"/>
            <a:lstStyle/>
            <a:p>
              <a:pPr algn="ctr">
                <a:lnSpc>
                  <a:spcPts val="318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52777" y="2457559"/>
            <a:ext cx="6437212" cy="115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3367" y="4511526"/>
            <a:ext cx="6815450" cy="242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 b="1">
                <a:solidFill>
                  <a:srgbClr val="F9FAFC"/>
                </a:solidFill>
                <a:latin typeface="Carlito Bold"/>
                <a:ea typeface="Carlito Bold"/>
                <a:cs typeface="Carlito Bold"/>
                <a:sym typeface="Carlito Bold"/>
              </a:rPr>
              <a:t>AWS data infrastructure</a:t>
            </a:r>
          </a:p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 b="1">
                <a:solidFill>
                  <a:srgbClr val="F9FAFC"/>
                </a:solidFill>
                <a:latin typeface="Carlito Bold"/>
                <a:ea typeface="Carlito Bold"/>
                <a:cs typeface="Carlito Bold"/>
                <a:sym typeface="Carlito Bold"/>
              </a:rPr>
              <a:t>Bloomberg data</a:t>
            </a:r>
          </a:p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 b="1">
                <a:solidFill>
                  <a:srgbClr val="F9FAFC"/>
                </a:solidFill>
                <a:latin typeface="Carlito Bold"/>
                <a:ea typeface="Carlito Bold"/>
                <a:cs typeface="Carlito Bold"/>
                <a:sym typeface="Carlito Bold"/>
              </a:rPr>
              <a:t>Patent API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92356" y="4404730"/>
            <a:ext cx="6749071" cy="321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 b="1">
                <a:solidFill>
                  <a:srgbClr val="F9FAFC"/>
                </a:solidFill>
                <a:latin typeface="Carlito Bold"/>
                <a:ea typeface="Carlito Bold"/>
                <a:cs typeface="Carlito Bold"/>
                <a:sym typeface="Carlito Bold"/>
              </a:rPr>
              <a:t>Hire us for 3 months </a:t>
            </a:r>
          </a:p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 b="1">
                <a:solidFill>
                  <a:srgbClr val="F9FAFC"/>
                </a:solidFill>
                <a:latin typeface="Carlito Bold"/>
                <a:ea typeface="Carlito Bold"/>
                <a:cs typeface="Carlito Bold"/>
                <a:sym typeface="Carlito Bold"/>
              </a:rPr>
              <a:t>A committed member with financial modeling expertise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503" r="-50142" b="-78229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2898" y="516481"/>
            <a:ext cx="3588101" cy="497181"/>
            <a:chOff x="0" y="0"/>
            <a:chExt cx="675730" cy="1309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60799" y="576478"/>
            <a:ext cx="3072297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 Call-to-Action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2899" y="1261476"/>
            <a:ext cx="170822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Support us to deliver you a solution that works!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2899" y="1070935"/>
            <a:ext cx="17082201" cy="64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  <a:spcBef>
                <a:spcPct val="0"/>
              </a:spcBef>
            </a:pPr>
            <a:r>
              <a:rPr lang="en-US" sz="40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02899" y="407674"/>
            <a:ext cx="2565664" cy="497181"/>
            <a:chOff x="0" y="0"/>
            <a:chExt cx="675730" cy="1309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5721" y="465726"/>
            <a:ext cx="174001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Append</a:t>
            </a:r>
            <a:r>
              <a:rPr lang="en-US" altLang="zh-CN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i</a:t>
            </a: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2899" y="1864686"/>
            <a:ext cx="17082201" cy="50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Broadridge Financial Solutions. (2024). US &amp; European fund fee trends: Exploring a decade of transformation. https://www.broadridge.com 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EFAMA. (2024). European asset managers on course to manage €33 trillion. https://www.efama.org 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European Central Bank. (2024). Passive investing and its impact on return co-movement. https://www.ecb.europa.eu 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Hall, B. H., Jaffe, A. B., &amp; Trajtenberg, M. (2004). Market value and patent citations. RAND Journal of Economics, 36(1), 16–38. https://www.nber.org/papers/w7741 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McKinsey &amp; Company. (2025a). How AI could reshape the economics of the asset management industry. </a:t>
            </a:r>
            <a:r>
              <a:rPr lang="en-US" sz="2395" u="sng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  <a:hlinkClick r:id="rId2" tooltip="https://www.mckinsey.com/industries/financial-services/our-insights"/>
              </a:rPr>
              <a:t>https://www.mckinsey.com/industries/financial-services/our-insights</a:t>
            </a: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McKinsey &amp; Company. (2025b). The European asset management industry: Navigating volatile times. </a:t>
            </a:r>
            <a:r>
              <a:rPr lang="en-US" sz="2395" u="sng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  <a:hlinkClick r:id="rId2" tooltip="https://www.mckinsey.com/industries/financial-services/our-insights"/>
              </a:rPr>
              <a:t>https://www.mckinsey.com/industries/financial-services/our-insights</a:t>
            </a: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Research and Markets. (2025). Alternative data market size, share and trends analysis report. </a:t>
            </a:r>
            <a:r>
              <a:rPr lang="en-US" sz="2395" u="sng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  <a:hlinkClick r:id="rId3" tooltip="https://www.researchandmarkets.com"/>
              </a:rPr>
              <a:t>https://www.researchandmarkets.com</a:t>
            </a: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  <a:p>
            <a:pPr marL="517187" lvl="1" indent="-258593" algn="l">
              <a:lnSpc>
                <a:spcPts val="3353"/>
              </a:lnSpc>
              <a:buAutoNum type="arabicPeriod"/>
            </a:pP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Deloitte. (2023). Generative AI in investment banking. </a:t>
            </a:r>
            <a:r>
              <a:rPr lang="en-US" sz="2395" u="sng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  <a:hlinkClick r:id="rId4" tooltip="https://www.deloitte.com"/>
              </a:rPr>
              <a:t>https://www.deloitte.com</a:t>
            </a:r>
            <a:r>
              <a:rPr lang="en-US" sz="2395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503" r="-50142" b="-78229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01054" y="5684194"/>
            <a:ext cx="9602109" cy="9566101"/>
          </a:xfrm>
          <a:custGeom>
            <a:avLst/>
            <a:gdLst/>
            <a:ahLst/>
            <a:cxnLst/>
            <a:rect l="l" t="t" r="r" b="b"/>
            <a:pathLst>
              <a:path w="9602109" h="9566101">
                <a:moveTo>
                  <a:pt x="0" y="0"/>
                </a:moveTo>
                <a:lnTo>
                  <a:pt x="9602108" y="0"/>
                </a:lnTo>
                <a:lnTo>
                  <a:pt x="9602108" y="9566101"/>
                </a:lnTo>
                <a:lnTo>
                  <a:pt x="0" y="956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7034" y="574795"/>
            <a:ext cx="1561340" cy="794332"/>
          </a:xfrm>
          <a:custGeom>
            <a:avLst/>
            <a:gdLst/>
            <a:ahLst/>
            <a:cxnLst/>
            <a:rect l="l" t="t" r="r" b="b"/>
            <a:pathLst>
              <a:path w="1561340" h="794332">
                <a:moveTo>
                  <a:pt x="0" y="0"/>
                </a:moveTo>
                <a:lnTo>
                  <a:pt x="1561340" y="0"/>
                </a:lnTo>
                <a:lnTo>
                  <a:pt x="1561340" y="794332"/>
                </a:lnTo>
                <a:lnTo>
                  <a:pt x="0" y="79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604758"/>
            <a:ext cx="4425616" cy="933674"/>
          </a:xfrm>
          <a:custGeom>
            <a:avLst/>
            <a:gdLst/>
            <a:ahLst/>
            <a:cxnLst/>
            <a:rect l="l" t="t" r="r" b="b"/>
            <a:pathLst>
              <a:path w="4425616" h="933674">
                <a:moveTo>
                  <a:pt x="0" y="0"/>
                </a:moveTo>
                <a:lnTo>
                  <a:pt x="4425616" y="0"/>
                </a:lnTo>
                <a:lnTo>
                  <a:pt x="4425616" y="933674"/>
                </a:lnTo>
                <a:lnTo>
                  <a:pt x="0" y="933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9482" y="4436489"/>
            <a:ext cx="10869532" cy="131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  <a:spcBef>
                <a:spcPct val="0"/>
              </a:spcBef>
            </a:pPr>
            <a:r>
              <a:rPr lang="en-US" sz="7999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Thank you for your time!</a:t>
            </a:r>
          </a:p>
        </p:txBody>
      </p:sp>
      <p:sp>
        <p:nvSpPr>
          <p:cNvPr id="6" name="Freeform 6"/>
          <p:cNvSpPr/>
          <p:nvPr/>
        </p:nvSpPr>
        <p:spPr>
          <a:xfrm>
            <a:off x="9395701" y="-5034362"/>
            <a:ext cx="9602109" cy="9566101"/>
          </a:xfrm>
          <a:custGeom>
            <a:avLst/>
            <a:gdLst/>
            <a:ahLst/>
            <a:cxnLst/>
            <a:rect l="l" t="t" r="r" b="b"/>
            <a:pathLst>
              <a:path w="9602109" h="9566101">
                <a:moveTo>
                  <a:pt x="0" y="0"/>
                </a:moveTo>
                <a:lnTo>
                  <a:pt x="9602109" y="0"/>
                </a:lnTo>
                <a:lnTo>
                  <a:pt x="9602109" y="9566101"/>
                </a:lnTo>
                <a:lnTo>
                  <a:pt x="0" y="956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856836" y="-251312"/>
            <a:ext cx="4638059" cy="10718557"/>
            <a:chOff x="0" y="0"/>
            <a:chExt cx="718557" cy="16605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8557" cy="1660585"/>
            </a:xfrm>
            <a:custGeom>
              <a:avLst/>
              <a:gdLst/>
              <a:ahLst/>
              <a:cxnLst/>
              <a:rect l="l" t="t" r="r" b="b"/>
              <a:pathLst>
                <a:path w="718557" h="1660585">
                  <a:moveTo>
                    <a:pt x="0" y="0"/>
                  </a:moveTo>
                  <a:lnTo>
                    <a:pt x="718557" y="0"/>
                  </a:lnTo>
                  <a:lnTo>
                    <a:pt x="718557" y="1660585"/>
                  </a:lnTo>
                  <a:lnTo>
                    <a:pt x="0" y="1660585"/>
                  </a:lnTo>
                  <a:close/>
                </a:path>
              </a:pathLst>
            </a:custGeom>
            <a:blipFill>
              <a:blip r:embed="rId6"/>
              <a:stretch>
                <a:fillRect l="-27033" r="-2703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39482" y="8553542"/>
            <a:ext cx="701404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2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Team 6  </a:t>
            </a:r>
          </a:p>
          <a:p>
            <a:pPr algn="l">
              <a:lnSpc>
                <a:spcPts val="242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Future of Private Investment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2877723" y="599858"/>
            <a:ext cx="2890118" cy="744206"/>
          </a:xfrm>
          <a:custGeom>
            <a:avLst/>
            <a:gdLst/>
            <a:ahLst/>
            <a:cxnLst/>
            <a:rect l="l" t="t" r="r" b="b"/>
            <a:pathLst>
              <a:path w="2890118" h="744206">
                <a:moveTo>
                  <a:pt x="0" y="0"/>
                </a:moveTo>
                <a:lnTo>
                  <a:pt x="2890119" y="0"/>
                </a:lnTo>
                <a:lnTo>
                  <a:pt x="2890119" y="744205"/>
                </a:lnTo>
                <a:lnTo>
                  <a:pt x="0" y="7442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686640" y="557403"/>
            <a:ext cx="1932984" cy="829116"/>
            <a:chOff x="0" y="0"/>
            <a:chExt cx="2577311" cy="11054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7501" cy="1105487"/>
            </a:xfrm>
            <a:custGeom>
              <a:avLst/>
              <a:gdLst/>
              <a:ahLst/>
              <a:cxnLst/>
              <a:rect l="l" t="t" r="r" b="b"/>
              <a:pathLst>
                <a:path w="1107501" h="1105487">
                  <a:moveTo>
                    <a:pt x="0" y="0"/>
                  </a:moveTo>
                  <a:lnTo>
                    <a:pt x="1107501" y="0"/>
                  </a:lnTo>
                  <a:lnTo>
                    <a:pt x="1107501" y="1105487"/>
                  </a:lnTo>
                  <a:lnTo>
                    <a:pt x="0" y="1105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297597" y="394484"/>
              <a:ext cx="1279715" cy="38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9"/>
                </a:lnSpc>
              </a:pPr>
              <a:r>
                <a:rPr lang="en-US" sz="2235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54568" y="212823"/>
              <a:ext cx="197520" cy="339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2899" y="407674"/>
            <a:ext cx="2565664" cy="497181"/>
            <a:chOff x="0" y="0"/>
            <a:chExt cx="675730" cy="1309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5730" cy="130945"/>
            </a:xfrm>
            <a:custGeom>
              <a:avLst/>
              <a:gdLst/>
              <a:ahLst/>
              <a:cxnLst/>
              <a:rect l="l" t="t" r="r" b="b"/>
              <a:pathLst>
                <a:path w="675730" h="130945">
                  <a:moveTo>
                    <a:pt x="65472" y="0"/>
                  </a:moveTo>
                  <a:lnTo>
                    <a:pt x="610258" y="0"/>
                  </a:lnTo>
                  <a:cubicBezTo>
                    <a:pt x="646417" y="0"/>
                    <a:pt x="675730" y="29313"/>
                    <a:pt x="675730" y="65472"/>
                  </a:cubicBezTo>
                  <a:lnTo>
                    <a:pt x="675730" y="65472"/>
                  </a:lnTo>
                  <a:cubicBezTo>
                    <a:pt x="675730" y="82837"/>
                    <a:pt x="668832" y="99490"/>
                    <a:pt x="656554" y="111768"/>
                  </a:cubicBezTo>
                  <a:cubicBezTo>
                    <a:pt x="644276" y="124047"/>
                    <a:pt x="627622" y="130945"/>
                    <a:pt x="610258" y="130945"/>
                  </a:cubicBezTo>
                  <a:lnTo>
                    <a:pt x="65472" y="130945"/>
                  </a:lnTo>
                  <a:cubicBezTo>
                    <a:pt x="48108" y="130945"/>
                    <a:pt x="31455" y="124047"/>
                    <a:pt x="19176" y="111768"/>
                  </a:cubicBezTo>
                  <a:cubicBezTo>
                    <a:pt x="6898" y="99490"/>
                    <a:pt x="0" y="82837"/>
                    <a:pt x="0" y="65472"/>
                  </a:cubicBezTo>
                  <a:lnTo>
                    <a:pt x="0" y="65472"/>
                  </a:lnTo>
                  <a:cubicBezTo>
                    <a:pt x="0" y="48108"/>
                    <a:pt x="6898" y="31455"/>
                    <a:pt x="19176" y="19176"/>
                  </a:cubicBezTo>
                  <a:cubicBezTo>
                    <a:pt x="31455" y="6898"/>
                    <a:pt x="48108" y="0"/>
                    <a:pt x="65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675730" cy="11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503" r="-50142" b="-7822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2899" y="1070935"/>
            <a:ext cx="17082201" cy="64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  <a:spcBef>
                <a:spcPct val="0"/>
              </a:spcBef>
            </a:pPr>
            <a:r>
              <a:rPr lang="en-US" sz="4000" b="1" u="sng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  <a:hlinkClick r:id="rId5" tooltip="https://jarvis-oddo.lovable.app"/>
              </a:rPr>
              <a:t>Prototype Link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1921" y="446353"/>
            <a:ext cx="158761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Appendix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2899" y="4222760"/>
            <a:ext cx="17082201" cy="64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  <a:spcBef>
                <a:spcPct val="0"/>
              </a:spcBef>
            </a:pPr>
            <a:r>
              <a:rPr lang="en-US" sz="40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https://jarvis-oddo.lovable.app/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30" t="2548" r="1130"/>
          <a:stretch>
            <a:fillRect/>
          </a:stretch>
        </p:blipFill>
        <p:spPr>
          <a:xfrm>
            <a:off x="25400" y="0"/>
            <a:ext cx="18342044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2899" y="2347326"/>
            <a:ext cx="2304313" cy="7130090"/>
            <a:chOff x="0" y="0"/>
            <a:chExt cx="1158093" cy="3583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8093" cy="3583414"/>
            </a:xfrm>
            <a:custGeom>
              <a:avLst/>
              <a:gdLst/>
              <a:ahLst/>
              <a:cxnLst/>
              <a:rect l="l" t="t" r="r" b="b"/>
              <a:pathLst>
                <a:path w="1158093" h="3583414">
                  <a:moveTo>
                    <a:pt x="0" y="0"/>
                  </a:moveTo>
                  <a:lnTo>
                    <a:pt x="1158093" y="0"/>
                  </a:lnTo>
                  <a:lnTo>
                    <a:pt x="1158093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158093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8651" y="4720123"/>
            <a:ext cx="1868657" cy="1146372"/>
            <a:chOff x="0" y="0"/>
            <a:chExt cx="384497" cy="2358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497" cy="235879"/>
            </a:xfrm>
            <a:custGeom>
              <a:avLst/>
              <a:gdLst/>
              <a:ahLst/>
              <a:cxnLst/>
              <a:rect l="l" t="t" r="r" b="b"/>
              <a:pathLst>
                <a:path w="384497" h="235879">
                  <a:moveTo>
                    <a:pt x="0" y="0"/>
                  </a:moveTo>
                  <a:lnTo>
                    <a:pt x="384497" y="0"/>
                  </a:lnTo>
                  <a:lnTo>
                    <a:pt x="384497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84497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Unstructured data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8651" y="6198640"/>
            <a:ext cx="1904205" cy="1146372"/>
            <a:chOff x="0" y="0"/>
            <a:chExt cx="391812" cy="2358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1812" cy="235879"/>
            </a:xfrm>
            <a:custGeom>
              <a:avLst/>
              <a:gdLst/>
              <a:ahLst/>
              <a:cxnLst/>
              <a:rect l="l" t="t" r="r" b="b"/>
              <a:pathLst>
                <a:path w="391812" h="235879">
                  <a:moveTo>
                    <a:pt x="0" y="0"/>
                  </a:moveTo>
                  <a:lnTo>
                    <a:pt x="391812" y="0"/>
                  </a:lnTo>
                  <a:lnTo>
                    <a:pt x="391812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391812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Financial data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69363" y="2347326"/>
            <a:ext cx="3492777" cy="7130090"/>
            <a:chOff x="0" y="0"/>
            <a:chExt cx="1755387" cy="35834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55387" cy="3583414"/>
            </a:xfrm>
            <a:custGeom>
              <a:avLst/>
              <a:gdLst/>
              <a:ahLst/>
              <a:cxnLst/>
              <a:rect l="l" t="t" r="r" b="b"/>
              <a:pathLst>
                <a:path w="1755387" h="3583414">
                  <a:moveTo>
                    <a:pt x="0" y="0"/>
                  </a:moveTo>
                  <a:lnTo>
                    <a:pt x="1755387" y="0"/>
                  </a:lnTo>
                  <a:lnTo>
                    <a:pt x="1755387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55387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63183" y="4720123"/>
            <a:ext cx="3086100" cy="1146372"/>
            <a:chOff x="0" y="0"/>
            <a:chExt cx="635000" cy="235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235879"/>
            </a:xfrm>
            <a:custGeom>
              <a:avLst/>
              <a:gdLst/>
              <a:ahLst/>
              <a:cxnLst/>
              <a:rect l="l" t="t" r="r" b="b"/>
              <a:pathLst>
                <a:path w="635000" h="235879">
                  <a:moveTo>
                    <a:pt x="0" y="0"/>
                  </a:moveTo>
                  <a:lnTo>
                    <a:pt x="635000" y="0"/>
                  </a:lnTo>
                  <a:lnTo>
                    <a:pt x="635000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635000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Economically meaningful signals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18165" y="2347326"/>
            <a:ext cx="3492777" cy="7130090"/>
            <a:chOff x="0" y="0"/>
            <a:chExt cx="1755387" cy="35834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387" cy="3583414"/>
            </a:xfrm>
            <a:custGeom>
              <a:avLst/>
              <a:gdLst/>
              <a:ahLst/>
              <a:cxnLst/>
              <a:rect l="l" t="t" r="r" b="b"/>
              <a:pathLst>
                <a:path w="1755387" h="3583414">
                  <a:moveTo>
                    <a:pt x="0" y="0"/>
                  </a:moveTo>
                  <a:lnTo>
                    <a:pt x="1755387" y="0"/>
                  </a:lnTo>
                  <a:lnTo>
                    <a:pt x="1755387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755387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37849" y="4720123"/>
            <a:ext cx="2453409" cy="2624889"/>
            <a:chOff x="0" y="0"/>
            <a:chExt cx="504817" cy="5401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4817" cy="540101"/>
            </a:xfrm>
            <a:custGeom>
              <a:avLst/>
              <a:gdLst/>
              <a:ahLst/>
              <a:cxnLst/>
              <a:rect l="l" t="t" r="r" b="b"/>
              <a:pathLst>
                <a:path w="504817" h="540101">
                  <a:moveTo>
                    <a:pt x="0" y="0"/>
                  </a:moveTo>
                  <a:lnTo>
                    <a:pt x="504817" y="0"/>
                  </a:lnTo>
                  <a:lnTo>
                    <a:pt x="504817" y="540101"/>
                  </a:lnTo>
                  <a:lnTo>
                    <a:pt x="0" y="540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504817" cy="530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Modeling with new data signal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87191" y="2347326"/>
            <a:ext cx="6307861" cy="7130090"/>
            <a:chOff x="0" y="0"/>
            <a:chExt cx="3170181" cy="35834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0181" cy="3583414"/>
            </a:xfrm>
            <a:custGeom>
              <a:avLst/>
              <a:gdLst/>
              <a:ahLst/>
              <a:cxnLst/>
              <a:rect l="l" t="t" r="r" b="b"/>
              <a:pathLst>
                <a:path w="3170181" h="3583414">
                  <a:moveTo>
                    <a:pt x="0" y="0"/>
                  </a:moveTo>
                  <a:lnTo>
                    <a:pt x="3170181" y="0"/>
                  </a:lnTo>
                  <a:lnTo>
                    <a:pt x="3170181" y="3583414"/>
                  </a:lnTo>
                  <a:lnTo>
                    <a:pt x="0" y="358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/>
              </a:solidFill>
              <a:prstDash val="sysDot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70181" cy="357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03641" y="4720123"/>
            <a:ext cx="2078481" cy="2624889"/>
            <a:chOff x="0" y="0"/>
            <a:chExt cx="427671" cy="54010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7671" cy="540101"/>
            </a:xfrm>
            <a:custGeom>
              <a:avLst/>
              <a:gdLst/>
              <a:ahLst/>
              <a:cxnLst/>
              <a:rect l="l" t="t" r="r" b="b"/>
              <a:pathLst>
                <a:path w="427671" h="540101">
                  <a:moveTo>
                    <a:pt x="0" y="0"/>
                  </a:moveTo>
                  <a:lnTo>
                    <a:pt x="427671" y="0"/>
                  </a:lnTo>
                  <a:lnTo>
                    <a:pt x="427671" y="540101"/>
                  </a:lnTo>
                  <a:lnTo>
                    <a:pt x="0" y="540101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ln w="38100" cap="sq">
              <a:noFill/>
              <a:prstDash val="dash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427671" cy="530576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Adjusted valuation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 rot="-10858">
            <a:off x="11503660" y="7890584"/>
            <a:ext cx="2078481" cy="701144"/>
            <a:chOff x="0" y="0"/>
            <a:chExt cx="427671" cy="1442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7671" cy="144268"/>
            </a:xfrm>
            <a:custGeom>
              <a:avLst/>
              <a:gdLst/>
              <a:ahLst/>
              <a:cxnLst/>
              <a:rect l="l" t="t" r="r" b="b"/>
              <a:pathLst>
                <a:path w="427671" h="144268">
                  <a:moveTo>
                    <a:pt x="0" y="0"/>
                  </a:moveTo>
                  <a:lnTo>
                    <a:pt x="427671" y="0"/>
                  </a:lnTo>
                  <a:lnTo>
                    <a:pt x="427671" y="144268"/>
                  </a:lnTo>
                  <a:lnTo>
                    <a:pt x="0" y="144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27671" cy="13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Market price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80882" y="6198640"/>
            <a:ext cx="3086100" cy="1146372"/>
            <a:chOff x="0" y="0"/>
            <a:chExt cx="635000" cy="23587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235879"/>
            </a:xfrm>
            <a:custGeom>
              <a:avLst/>
              <a:gdLst/>
              <a:ahLst/>
              <a:cxnLst/>
              <a:rect l="l" t="t" r="r" b="b"/>
              <a:pathLst>
                <a:path w="635000" h="235879">
                  <a:moveTo>
                    <a:pt x="0" y="0"/>
                  </a:moveTo>
                  <a:lnTo>
                    <a:pt x="635000" y="0"/>
                  </a:lnTo>
                  <a:lnTo>
                    <a:pt x="635000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100000"/>
                    </a:srgbClr>
                  </a:gs>
                  <a:gs pos="50000">
                    <a:srgbClr val="020B45">
                      <a:alpha val="100000"/>
                    </a:srgbClr>
                  </a:gs>
                  <a:gs pos="100000">
                    <a:srgbClr val="4300C4">
                      <a:alpha val="10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635000" cy="226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Modeling using Multiples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848947" y="4701073"/>
            <a:ext cx="2078481" cy="4101168"/>
            <a:chOff x="0" y="0"/>
            <a:chExt cx="427671" cy="8438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7671" cy="843862"/>
            </a:xfrm>
            <a:custGeom>
              <a:avLst/>
              <a:gdLst/>
              <a:ahLst/>
              <a:cxnLst/>
              <a:rect l="l" t="t" r="r" b="b"/>
              <a:pathLst>
                <a:path w="427671" h="843862">
                  <a:moveTo>
                    <a:pt x="0" y="0"/>
                  </a:moveTo>
                  <a:lnTo>
                    <a:pt x="427671" y="0"/>
                  </a:lnTo>
                  <a:lnTo>
                    <a:pt x="427671" y="843862"/>
                  </a:lnTo>
                  <a:lnTo>
                    <a:pt x="0" y="843862"/>
                  </a:lnTo>
                  <a:close/>
                </a:path>
              </a:pathLst>
            </a:custGeom>
            <a:gradFill rotWithShape="1"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ln w="38100" cap="sq">
              <a:noFill/>
              <a:prstDash val="dash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427671" cy="834337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Discrepency value</a:t>
              </a:r>
            </a:p>
            <a:p>
              <a:pPr algn="ctr">
                <a:lnSpc>
                  <a:spcPts val="2131"/>
                </a:lnSpc>
              </a:pPr>
              <a:endParaRPr lang="en-US" sz="2395" b="1">
                <a:solidFill>
                  <a:srgbClr val="FDFCFF"/>
                </a:solidFill>
                <a:latin typeface="Carlito Bold"/>
                <a:ea typeface="Carlito Bold"/>
                <a:cs typeface="Carlito Bold"/>
                <a:sym typeface="Carlito Bold"/>
              </a:endParaRPr>
            </a:p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&amp;</a:t>
              </a:r>
            </a:p>
            <a:p>
              <a:pPr algn="ctr">
                <a:lnSpc>
                  <a:spcPts val="2131"/>
                </a:lnSpc>
              </a:pPr>
              <a:endParaRPr lang="en-US" sz="2395" b="1">
                <a:solidFill>
                  <a:srgbClr val="FDFCFF"/>
                </a:solidFill>
                <a:latin typeface="Carlito Bold"/>
                <a:ea typeface="Carlito Bold"/>
                <a:cs typeface="Carlito Bold"/>
                <a:sym typeface="Carlito Bold"/>
              </a:endParaRPr>
            </a:p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FDFC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Investment suggestion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9126" y="3516684"/>
            <a:ext cx="1868657" cy="635228"/>
            <a:chOff x="0" y="0"/>
            <a:chExt cx="396028" cy="1346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6028" cy="134625"/>
            </a:xfrm>
            <a:custGeom>
              <a:avLst/>
              <a:gdLst/>
              <a:ahLst/>
              <a:cxnLst/>
              <a:rect l="l" t="t" r="r" b="b"/>
              <a:pathLst>
                <a:path w="396028" h="134625">
                  <a:moveTo>
                    <a:pt x="0" y="0"/>
                  </a:moveTo>
                  <a:lnTo>
                    <a:pt x="396028" y="0"/>
                  </a:lnTo>
                  <a:lnTo>
                    <a:pt x="396028" y="134625"/>
                  </a:lnTo>
                  <a:lnTo>
                    <a:pt x="0" y="134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396028" cy="12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2395" b="1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Global trends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2707309" y="5312359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>
            <a:off x="2742856" y="6751657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AutoShape 43"/>
          <p:cNvSpPr/>
          <p:nvPr/>
        </p:nvSpPr>
        <p:spPr>
          <a:xfrm>
            <a:off x="7063640" y="6011784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4" name="Group 44"/>
          <p:cNvGrpSpPr/>
          <p:nvPr/>
        </p:nvGrpSpPr>
        <p:grpSpPr>
          <a:xfrm>
            <a:off x="6449283" y="5169351"/>
            <a:ext cx="625714" cy="1726433"/>
            <a:chOff x="0" y="0"/>
            <a:chExt cx="834286" cy="2301911"/>
          </a:xfrm>
        </p:grpSpPr>
        <p:sp>
          <p:nvSpPr>
            <p:cNvPr id="45" name="AutoShape 45"/>
            <p:cNvSpPr/>
            <p:nvPr/>
          </p:nvSpPr>
          <p:spPr>
            <a:xfrm flipV="1">
              <a:off x="0" y="25400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AutoShape 46"/>
            <p:cNvSpPr/>
            <p:nvPr/>
          </p:nvSpPr>
          <p:spPr>
            <a:xfrm flipV="1">
              <a:off x="0" y="2276511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" name="AutoShape 47"/>
            <p:cNvSpPr/>
            <p:nvPr/>
          </p:nvSpPr>
          <p:spPr>
            <a:xfrm flipH="1">
              <a:off x="808886" y="25400"/>
              <a:ext cx="0" cy="22511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8" name="AutoShape 48"/>
          <p:cNvSpPr/>
          <p:nvPr/>
        </p:nvSpPr>
        <p:spPr>
          <a:xfrm flipH="1">
            <a:off x="3906788" y="3835396"/>
            <a:ext cx="0" cy="8847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AutoShape 49"/>
          <p:cNvSpPr/>
          <p:nvPr/>
        </p:nvSpPr>
        <p:spPr>
          <a:xfrm>
            <a:off x="1763455" y="7344911"/>
            <a:ext cx="0" cy="9032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>
            <a:off x="1763431" y="8244439"/>
            <a:ext cx="97402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1" name="AutoShape 51"/>
          <p:cNvSpPr/>
          <p:nvPr/>
        </p:nvSpPr>
        <p:spPr>
          <a:xfrm>
            <a:off x="10191257" y="6030834"/>
            <a:ext cx="1312384" cy="17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2" name="AutoShape 52"/>
          <p:cNvSpPr/>
          <p:nvPr/>
        </p:nvSpPr>
        <p:spPr>
          <a:xfrm>
            <a:off x="14174738" y="7364206"/>
            <a:ext cx="6742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3" name="Group 53"/>
          <p:cNvGrpSpPr/>
          <p:nvPr/>
        </p:nvGrpSpPr>
        <p:grpSpPr>
          <a:xfrm>
            <a:off x="13560381" y="6521773"/>
            <a:ext cx="625714" cy="1726433"/>
            <a:chOff x="0" y="0"/>
            <a:chExt cx="834286" cy="2301911"/>
          </a:xfrm>
        </p:grpSpPr>
        <p:sp>
          <p:nvSpPr>
            <p:cNvPr id="54" name="AutoShape 54"/>
            <p:cNvSpPr/>
            <p:nvPr/>
          </p:nvSpPr>
          <p:spPr>
            <a:xfrm flipV="1">
              <a:off x="0" y="25400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AutoShape 55"/>
            <p:cNvSpPr/>
            <p:nvPr/>
          </p:nvSpPr>
          <p:spPr>
            <a:xfrm flipV="1">
              <a:off x="0" y="2276511"/>
              <a:ext cx="80888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AutoShape 56"/>
            <p:cNvSpPr/>
            <p:nvPr/>
          </p:nvSpPr>
          <p:spPr>
            <a:xfrm flipH="1">
              <a:off x="808886" y="25400"/>
              <a:ext cx="0" cy="22511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7" name="AutoShape 57"/>
          <p:cNvSpPr/>
          <p:nvPr/>
        </p:nvSpPr>
        <p:spPr>
          <a:xfrm flipV="1">
            <a:off x="2697784" y="3834298"/>
            <a:ext cx="123757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" name="AutoShape 58"/>
          <p:cNvSpPr/>
          <p:nvPr/>
        </p:nvSpPr>
        <p:spPr>
          <a:xfrm flipV="1">
            <a:off x="9901316" y="7345012"/>
            <a:ext cx="0" cy="1706296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59" name="AutoShape 59"/>
          <p:cNvSpPr/>
          <p:nvPr/>
        </p:nvSpPr>
        <p:spPr>
          <a:xfrm>
            <a:off x="9901316" y="9051308"/>
            <a:ext cx="554595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 flipH="1" flipV="1">
            <a:off x="15428218" y="8802241"/>
            <a:ext cx="9525" cy="23971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1" name="Freeform 61"/>
          <p:cNvSpPr/>
          <p:nvPr/>
        </p:nvSpPr>
        <p:spPr>
          <a:xfrm>
            <a:off x="4361834" y="7344911"/>
            <a:ext cx="1162296" cy="653792"/>
          </a:xfrm>
          <a:custGeom>
            <a:avLst/>
            <a:gdLst/>
            <a:ahLst/>
            <a:cxnLst/>
            <a:rect l="l" t="t" r="r" b="b"/>
            <a:pathLst>
              <a:path w="1162296" h="653792">
                <a:moveTo>
                  <a:pt x="0" y="0"/>
                </a:moveTo>
                <a:lnTo>
                  <a:pt x="1162296" y="0"/>
                </a:lnTo>
                <a:lnTo>
                  <a:pt x="1162296" y="653792"/>
                </a:lnTo>
                <a:lnTo>
                  <a:pt x="0" y="65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4463869" y="3834298"/>
            <a:ext cx="884727" cy="884727"/>
          </a:xfrm>
          <a:custGeom>
            <a:avLst/>
            <a:gdLst/>
            <a:ahLst/>
            <a:cxnLst/>
            <a:rect l="l" t="t" r="r" b="b"/>
            <a:pathLst>
              <a:path w="884727" h="884727">
                <a:moveTo>
                  <a:pt x="0" y="0"/>
                </a:moveTo>
                <a:lnTo>
                  <a:pt x="884728" y="0"/>
                </a:lnTo>
                <a:lnTo>
                  <a:pt x="884728" y="884727"/>
                </a:lnTo>
                <a:lnTo>
                  <a:pt x="0" y="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88" r="-38888"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8120488" y="3834298"/>
            <a:ext cx="884727" cy="884727"/>
          </a:xfrm>
          <a:custGeom>
            <a:avLst/>
            <a:gdLst/>
            <a:ahLst/>
            <a:cxnLst/>
            <a:rect l="l" t="t" r="r" b="b"/>
            <a:pathLst>
              <a:path w="884727" h="884727">
                <a:moveTo>
                  <a:pt x="0" y="0"/>
                </a:moveTo>
                <a:lnTo>
                  <a:pt x="884728" y="0"/>
                </a:lnTo>
                <a:lnTo>
                  <a:pt x="884728" y="884727"/>
                </a:lnTo>
                <a:lnTo>
                  <a:pt x="0" y="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88" r="-38888"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9005216" y="3949766"/>
            <a:ext cx="1162296" cy="653792"/>
          </a:xfrm>
          <a:custGeom>
            <a:avLst/>
            <a:gdLst/>
            <a:ahLst/>
            <a:cxnLst/>
            <a:rect l="l" t="t" r="r" b="b"/>
            <a:pathLst>
              <a:path w="1162296" h="653792">
                <a:moveTo>
                  <a:pt x="0" y="0"/>
                </a:moveTo>
                <a:lnTo>
                  <a:pt x="1162296" y="0"/>
                </a:lnTo>
                <a:lnTo>
                  <a:pt x="1162296" y="653792"/>
                </a:lnTo>
                <a:lnTo>
                  <a:pt x="0" y="65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997044" y="7332060"/>
            <a:ext cx="1516023" cy="555243"/>
          </a:xfrm>
          <a:custGeom>
            <a:avLst/>
            <a:gdLst/>
            <a:ahLst/>
            <a:cxnLst/>
            <a:rect l="l" t="t" r="r" b="b"/>
            <a:pathLst>
              <a:path w="1516023" h="555243">
                <a:moveTo>
                  <a:pt x="0" y="0"/>
                </a:moveTo>
                <a:lnTo>
                  <a:pt x="1516023" y="0"/>
                </a:lnTo>
                <a:lnTo>
                  <a:pt x="1516023" y="555243"/>
                </a:lnTo>
                <a:lnTo>
                  <a:pt x="0" y="555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677197" y="2308393"/>
            <a:ext cx="2155717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Input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326386" y="2308393"/>
            <a:ext cx="337873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Data Process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75187" y="2308393"/>
            <a:ext cx="3378732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Valuation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34816" y="2308393"/>
            <a:ext cx="6212611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570BEB"/>
                </a:solidFill>
                <a:latin typeface="Carlito Bold"/>
                <a:ea typeface="Carlito Bold"/>
                <a:cs typeface="Carlito Bold"/>
                <a:sym typeface="Carlito Bold"/>
              </a:rPr>
              <a:t>Output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62595" y="7687912"/>
            <a:ext cx="2066483" cy="170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40030"/>
                </a:solidFill>
                <a:latin typeface="Carlito"/>
                <a:ea typeface="Carlito"/>
                <a:cs typeface="Carlito"/>
                <a:sym typeface="Carlito"/>
              </a:rPr>
              <a:t>Feedback training data from market success/failure </a:t>
            </a:r>
          </a:p>
        </p:txBody>
      </p:sp>
      <p:sp>
        <p:nvSpPr>
          <p:cNvPr id="71" name="Freeform 71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503" r="-50142" b="-78229"/>
            </a:stretch>
          </a:blipFill>
        </p:spPr>
      </p:sp>
      <p:grpSp>
        <p:nvGrpSpPr>
          <p:cNvPr id="72" name="Group 72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2899" y="516481"/>
            <a:ext cx="2962212" cy="512219"/>
            <a:chOff x="0" y="0"/>
            <a:chExt cx="780171" cy="13490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80171" cy="134906"/>
            </a:xfrm>
            <a:custGeom>
              <a:avLst/>
              <a:gdLst/>
              <a:ahLst/>
              <a:cxnLst/>
              <a:rect l="l" t="t" r="r" b="b"/>
              <a:pathLst>
                <a:path w="780171" h="134906">
                  <a:moveTo>
                    <a:pt x="67453" y="0"/>
                  </a:moveTo>
                  <a:lnTo>
                    <a:pt x="712718" y="0"/>
                  </a:lnTo>
                  <a:cubicBezTo>
                    <a:pt x="749972" y="0"/>
                    <a:pt x="780171" y="30200"/>
                    <a:pt x="780171" y="67453"/>
                  </a:cubicBezTo>
                  <a:lnTo>
                    <a:pt x="780171" y="67453"/>
                  </a:lnTo>
                  <a:cubicBezTo>
                    <a:pt x="780171" y="104706"/>
                    <a:pt x="749972" y="134906"/>
                    <a:pt x="712718" y="134906"/>
                  </a:cubicBezTo>
                  <a:lnTo>
                    <a:pt x="67453" y="134906"/>
                  </a:lnTo>
                  <a:cubicBezTo>
                    <a:pt x="30200" y="134906"/>
                    <a:pt x="0" y="104706"/>
                    <a:pt x="0" y="67453"/>
                  </a:cubicBezTo>
                  <a:lnTo>
                    <a:pt x="0" y="67453"/>
                  </a:lnTo>
                  <a:cubicBezTo>
                    <a:pt x="0" y="30200"/>
                    <a:pt x="30200" y="0"/>
                    <a:pt x="674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7" name="TextBox 77"/>
            <p:cNvSpPr txBox="1"/>
            <p:nvPr/>
          </p:nvSpPr>
          <p:spPr>
            <a:xfrm>
              <a:off x="0" y="19050"/>
              <a:ext cx="780171" cy="11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677197" y="546519"/>
            <a:ext cx="2739868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Appendix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02899" y="1261476"/>
            <a:ext cx="1708220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Real-time </a:t>
            </a:r>
            <a:r>
              <a:rPr lang="en-US" altLang="zh-CN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unstructured</a:t>
            </a:r>
            <a:r>
              <a:rPr lang="en-US" sz="4500" b="1" dirty="0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 data is turned into valuation insights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5632" y="6274529"/>
            <a:ext cx="1321236" cy="1146372"/>
            <a:chOff x="0" y="0"/>
            <a:chExt cx="271859" cy="2358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1859" cy="235879"/>
            </a:xfrm>
            <a:custGeom>
              <a:avLst/>
              <a:gdLst/>
              <a:ahLst/>
              <a:cxnLst/>
              <a:rect l="l" t="t" r="r" b="b"/>
              <a:pathLst>
                <a:path w="271859" h="235879">
                  <a:moveTo>
                    <a:pt x="0" y="0"/>
                  </a:moveTo>
                  <a:lnTo>
                    <a:pt x="271859" y="0"/>
                  </a:lnTo>
                  <a:lnTo>
                    <a:pt x="271859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71859" cy="226354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r>
                <a:rPr lang="en-US" altLang="zh-CN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Unstructured</a:t>
              </a:r>
              <a:r>
                <a:rPr lang="en-US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 data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5632" y="7753046"/>
            <a:ext cx="1346371" cy="1146372"/>
            <a:chOff x="0" y="0"/>
            <a:chExt cx="277031" cy="2358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031" cy="235879"/>
            </a:xfrm>
            <a:custGeom>
              <a:avLst/>
              <a:gdLst/>
              <a:ahLst/>
              <a:cxnLst/>
              <a:rect l="l" t="t" r="r" b="b"/>
              <a:pathLst>
                <a:path w="277031" h="235879">
                  <a:moveTo>
                    <a:pt x="0" y="0"/>
                  </a:moveTo>
                  <a:lnTo>
                    <a:pt x="277031" y="0"/>
                  </a:lnTo>
                  <a:lnTo>
                    <a:pt x="277031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77031" cy="226354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r>
                <a:rPr lang="en-US" sz="1695" b="1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Financial data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64270" y="3901732"/>
            <a:ext cx="2469572" cy="5900880"/>
            <a:chOff x="0" y="0"/>
            <a:chExt cx="1241148" cy="29656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1148" cy="2965642"/>
            </a:xfrm>
            <a:custGeom>
              <a:avLst/>
              <a:gdLst/>
              <a:ahLst/>
              <a:cxnLst/>
              <a:rect l="l" t="t" r="r" b="b"/>
              <a:pathLst>
                <a:path w="1241148" h="2965642">
                  <a:moveTo>
                    <a:pt x="0" y="0"/>
                  </a:moveTo>
                  <a:lnTo>
                    <a:pt x="1241148" y="0"/>
                  </a:lnTo>
                  <a:lnTo>
                    <a:pt x="1241148" y="2965642"/>
                  </a:lnTo>
                  <a:lnTo>
                    <a:pt x="0" y="2965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>
                  <a:alpha val="49804"/>
                </a:srgbClr>
              </a:solidFill>
              <a:prstDash val="sysDot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241148" cy="2956117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30606" y="6274529"/>
            <a:ext cx="2182031" cy="1146372"/>
            <a:chOff x="0" y="0"/>
            <a:chExt cx="448978" cy="235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978" cy="235879"/>
            </a:xfrm>
            <a:custGeom>
              <a:avLst/>
              <a:gdLst/>
              <a:ahLst/>
              <a:cxnLst/>
              <a:rect l="l" t="t" r="r" b="b"/>
              <a:pathLst>
                <a:path w="448978" h="235879">
                  <a:moveTo>
                    <a:pt x="0" y="0"/>
                  </a:moveTo>
                  <a:lnTo>
                    <a:pt x="448978" y="0"/>
                  </a:lnTo>
                  <a:lnTo>
                    <a:pt x="448978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48978" cy="226354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r>
                <a:rPr lang="en-US" sz="1695" b="1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Economically meaningful signals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43120" y="7753046"/>
            <a:ext cx="2182031" cy="1146372"/>
            <a:chOff x="0" y="0"/>
            <a:chExt cx="448978" cy="235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8978" cy="235879"/>
            </a:xfrm>
            <a:custGeom>
              <a:avLst/>
              <a:gdLst/>
              <a:ahLst/>
              <a:cxnLst/>
              <a:rect l="l" t="t" r="r" b="b"/>
              <a:pathLst>
                <a:path w="448978" h="235879">
                  <a:moveTo>
                    <a:pt x="0" y="0"/>
                  </a:moveTo>
                  <a:lnTo>
                    <a:pt x="448978" y="0"/>
                  </a:lnTo>
                  <a:lnTo>
                    <a:pt x="448978" y="235879"/>
                  </a:lnTo>
                  <a:lnTo>
                    <a:pt x="0" y="23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48978" cy="226354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r>
                <a:rPr lang="en-US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Modeling </a:t>
              </a:r>
              <a:r>
                <a:rPr lang="en-US" altLang="zh-CN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using</a:t>
              </a:r>
              <a:r>
                <a:rPr lang="zh-CN" altLang="en-US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 </a:t>
              </a:r>
              <a:r>
                <a:rPr lang="en-US" sz="1695" b="1" dirty="0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Multiples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8898" y="4953974"/>
            <a:ext cx="1321236" cy="869459"/>
            <a:chOff x="0" y="0"/>
            <a:chExt cx="280012" cy="1842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0012" cy="184266"/>
            </a:xfrm>
            <a:custGeom>
              <a:avLst/>
              <a:gdLst/>
              <a:ahLst/>
              <a:cxnLst/>
              <a:rect l="l" t="t" r="r" b="b"/>
              <a:pathLst>
                <a:path w="280012" h="184266">
                  <a:moveTo>
                    <a:pt x="0" y="0"/>
                  </a:moveTo>
                  <a:lnTo>
                    <a:pt x="280012" y="0"/>
                  </a:lnTo>
                  <a:lnTo>
                    <a:pt x="280012" y="184266"/>
                  </a:lnTo>
                  <a:lnTo>
                    <a:pt x="0" y="1842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000949">
                      <a:alpha val="50000"/>
                    </a:srgbClr>
                  </a:gs>
                  <a:gs pos="50000">
                    <a:srgbClr val="020B45">
                      <a:alpha val="50000"/>
                    </a:srgbClr>
                  </a:gs>
                  <a:gs pos="100000">
                    <a:srgbClr val="4300C4">
                      <a:alpha val="50000"/>
                    </a:srgbClr>
                  </a:gs>
                </a:gsLst>
                <a:lin ang="5400000"/>
              </a:gradFill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280012" cy="174741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r>
                <a:rPr lang="en-US" sz="1695" b="1">
                  <a:solidFill>
                    <a:srgbClr val="000000">
                      <a:alpha val="49804"/>
                    </a:srgbClr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Global trends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866869" y="6866765"/>
            <a:ext cx="476700" cy="0"/>
          </a:xfrm>
          <a:prstGeom prst="line">
            <a:avLst/>
          </a:prstGeom>
          <a:ln w="381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AutoShape 21"/>
          <p:cNvSpPr/>
          <p:nvPr/>
        </p:nvSpPr>
        <p:spPr>
          <a:xfrm>
            <a:off x="1892003" y="8306063"/>
            <a:ext cx="476700" cy="0"/>
          </a:xfrm>
          <a:prstGeom prst="line">
            <a:avLst/>
          </a:prstGeom>
          <a:ln w="381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AutoShape 22"/>
          <p:cNvSpPr/>
          <p:nvPr/>
        </p:nvSpPr>
        <p:spPr>
          <a:xfrm flipH="1">
            <a:off x="2714962" y="5389802"/>
            <a:ext cx="0" cy="884727"/>
          </a:xfrm>
          <a:prstGeom prst="line">
            <a:avLst/>
          </a:prstGeom>
          <a:ln w="381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4" name="Group 24"/>
          <p:cNvGrpSpPr/>
          <p:nvPr/>
        </p:nvGrpSpPr>
        <p:grpSpPr>
          <a:xfrm>
            <a:off x="-1061036" y="2318915"/>
            <a:ext cx="3085587" cy="7477791"/>
            <a:chOff x="0" y="9525"/>
            <a:chExt cx="1550743" cy="3758160"/>
          </a:xfrm>
        </p:grpSpPr>
        <p:sp>
          <p:nvSpPr>
            <p:cNvPr id="25" name="Freeform 25"/>
            <p:cNvSpPr/>
            <p:nvPr/>
          </p:nvSpPr>
          <p:spPr>
            <a:xfrm>
              <a:off x="731912" y="802043"/>
              <a:ext cx="818831" cy="2965642"/>
            </a:xfrm>
            <a:custGeom>
              <a:avLst/>
              <a:gdLst/>
              <a:ahLst/>
              <a:cxnLst/>
              <a:rect l="l" t="t" r="r" b="b"/>
              <a:pathLst>
                <a:path w="818831" h="2965642">
                  <a:moveTo>
                    <a:pt x="0" y="0"/>
                  </a:moveTo>
                  <a:lnTo>
                    <a:pt x="818831" y="0"/>
                  </a:lnTo>
                  <a:lnTo>
                    <a:pt x="818831" y="2965642"/>
                  </a:lnTo>
                  <a:lnTo>
                    <a:pt x="0" y="2965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F8D8D">
                  <a:alpha val="49804"/>
                </a:srgbClr>
              </a:solidFill>
              <a:prstDash val="sysDot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818831" cy="2956117"/>
            </a:xfrm>
            <a:prstGeom prst="rect">
              <a:avLst/>
            </a:prstGeom>
          </p:spPr>
          <p:txBody>
            <a:bodyPr lIns="51145" tIns="51145" rIns="51145" bIns="51145" rtlCol="0" anchor="ctr"/>
            <a:lstStyle/>
            <a:p>
              <a:pPr algn="ctr">
                <a:lnSpc>
                  <a:spcPts val="1509"/>
                </a:lnSpc>
              </a:pPr>
              <a:endParaRPr/>
            </a:p>
          </p:txBody>
        </p:sp>
      </p:grpSp>
      <p:sp>
        <p:nvSpPr>
          <p:cNvPr id="27" name="AutoShape 27"/>
          <p:cNvSpPr/>
          <p:nvPr/>
        </p:nvSpPr>
        <p:spPr>
          <a:xfrm>
            <a:off x="1860134" y="5388704"/>
            <a:ext cx="875032" cy="0"/>
          </a:xfrm>
          <a:prstGeom prst="line">
            <a:avLst/>
          </a:prstGeom>
          <a:ln w="381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Freeform 28"/>
          <p:cNvSpPr/>
          <p:nvPr/>
        </p:nvSpPr>
        <p:spPr>
          <a:xfrm>
            <a:off x="3036703" y="8967568"/>
            <a:ext cx="736014" cy="585541"/>
          </a:xfrm>
          <a:custGeom>
            <a:avLst/>
            <a:gdLst/>
            <a:ahLst/>
            <a:cxnLst/>
            <a:rect l="l" t="t" r="r" b="b"/>
            <a:pathLst>
              <a:path w="736014" h="585541">
                <a:moveTo>
                  <a:pt x="0" y="0"/>
                </a:moveTo>
                <a:lnTo>
                  <a:pt x="736014" y="0"/>
                </a:lnTo>
                <a:lnTo>
                  <a:pt x="736014" y="585541"/>
                </a:lnTo>
                <a:lnTo>
                  <a:pt x="0" y="5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20716" r="-20716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154013" y="5482160"/>
            <a:ext cx="560246" cy="792369"/>
          </a:xfrm>
          <a:custGeom>
            <a:avLst/>
            <a:gdLst/>
            <a:ahLst/>
            <a:cxnLst/>
            <a:rect l="l" t="t" r="r" b="b"/>
            <a:pathLst>
              <a:path w="560246" h="792369">
                <a:moveTo>
                  <a:pt x="0" y="0"/>
                </a:moveTo>
                <a:lnTo>
                  <a:pt x="560245" y="0"/>
                </a:lnTo>
                <a:lnTo>
                  <a:pt x="560245" y="792369"/>
                </a:lnTo>
                <a:lnTo>
                  <a:pt x="0" y="792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75717" r="-75717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46614" y="8899418"/>
            <a:ext cx="1093927" cy="400651"/>
          </a:xfrm>
          <a:custGeom>
            <a:avLst/>
            <a:gdLst/>
            <a:ahLst/>
            <a:cxnLst/>
            <a:rect l="l" t="t" r="r" b="b"/>
            <a:pathLst>
              <a:path w="1093927" h="400651">
                <a:moveTo>
                  <a:pt x="0" y="0"/>
                </a:moveTo>
                <a:lnTo>
                  <a:pt x="1093927" y="0"/>
                </a:lnTo>
                <a:lnTo>
                  <a:pt x="1093927" y="400650"/>
                </a:lnTo>
                <a:lnTo>
                  <a:pt x="0" y="400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4693525" y="2433051"/>
            <a:ext cx="13215532" cy="5533574"/>
            <a:chOff x="0" y="0"/>
            <a:chExt cx="17620709" cy="7378099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7620709" cy="7378099"/>
              <a:chOff x="0" y="0"/>
              <a:chExt cx="1000914" cy="4191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0091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000914" h="419100">
                    <a:moveTo>
                      <a:pt x="12596" y="0"/>
                    </a:moveTo>
                    <a:lnTo>
                      <a:pt x="988317" y="0"/>
                    </a:lnTo>
                    <a:cubicBezTo>
                      <a:pt x="995274" y="0"/>
                      <a:pt x="1000914" y="5640"/>
                      <a:pt x="1000914" y="12596"/>
                    </a:cubicBezTo>
                    <a:lnTo>
                      <a:pt x="1000914" y="406504"/>
                    </a:lnTo>
                    <a:cubicBezTo>
                      <a:pt x="1000914" y="409844"/>
                      <a:pt x="999586" y="413048"/>
                      <a:pt x="997224" y="415411"/>
                    </a:cubicBezTo>
                    <a:cubicBezTo>
                      <a:pt x="994862" y="417773"/>
                      <a:pt x="991658" y="419100"/>
                      <a:pt x="988317" y="419100"/>
                    </a:cubicBezTo>
                    <a:lnTo>
                      <a:pt x="12596" y="419100"/>
                    </a:lnTo>
                    <a:cubicBezTo>
                      <a:pt x="9256" y="419100"/>
                      <a:pt x="6052" y="417773"/>
                      <a:pt x="3689" y="415411"/>
                    </a:cubicBezTo>
                    <a:cubicBezTo>
                      <a:pt x="1327" y="413048"/>
                      <a:pt x="0" y="409844"/>
                      <a:pt x="0" y="406504"/>
                    </a:cubicBezTo>
                    <a:lnTo>
                      <a:pt x="0" y="12596"/>
                    </a:lnTo>
                    <a:cubicBezTo>
                      <a:pt x="0" y="9256"/>
                      <a:pt x="1327" y="6052"/>
                      <a:pt x="3689" y="3689"/>
                    </a:cubicBezTo>
                    <a:cubicBezTo>
                      <a:pt x="6052" y="1327"/>
                      <a:pt x="9256" y="0"/>
                      <a:pt x="12596" y="0"/>
                    </a:cubicBezTo>
                    <a:close/>
                  </a:path>
                </a:pathLst>
              </a:custGeom>
              <a:solidFill>
                <a:srgbClr val="F1F5F6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1000914" cy="447675"/>
              </a:xfrm>
              <a:prstGeom prst="rect">
                <a:avLst/>
              </a:prstGeom>
            </p:spPr>
            <p:txBody>
              <a:bodyPr lIns="41800" tIns="41800" rIns="41800" bIns="41800" rtlCol="0" anchor="ctr"/>
              <a:lstStyle/>
              <a:p>
                <a:pPr algn="ctr">
                  <a:lnSpc>
                    <a:spcPts val="253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0"/>
              <a:ext cx="3848866" cy="7378099"/>
              <a:chOff x="0" y="0"/>
              <a:chExt cx="931770" cy="178615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31770" cy="1786159"/>
              </a:xfrm>
              <a:custGeom>
                <a:avLst/>
                <a:gdLst/>
                <a:ahLst/>
                <a:cxnLst/>
                <a:rect l="l" t="t" r="r" b="b"/>
                <a:pathLst>
                  <a:path w="931770" h="1786159">
                    <a:moveTo>
                      <a:pt x="118105" y="0"/>
                    </a:moveTo>
                    <a:lnTo>
                      <a:pt x="813665" y="0"/>
                    </a:lnTo>
                    <a:cubicBezTo>
                      <a:pt x="878892" y="0"/>
                      <a:pt x="931770" y="52877"/>
                      <a:pt x="931770" y="118105"/>
                    </a:cubicBezTo>
                    <a:lnTo>
                      <a:pt x="931770" y="1668055"/>
                    </a:lnTo>
                    <a:cubicBezTo>
                      <a:pt x="931770" y="1733282"/>
                      <a:pt x="878892" y="1786159"/>
                      <a:pt x="813665" y="1786159"/>
                    </a:cubicBezTo>
                    <a:lnTo>
                      <a:pt x="118105" y="1786159"/>
                    </a:lnTo>
                    <a:cubicBezTo>
                      <a:pt x="52877" y="1786159"/>
                      <a:pt x="0" y="1733282"/>
                      <a:pt x="0" y="1668055"/>
                    </a:cubicBezTo>
                    <a:lnTo>
                      <a:pt x="0" y="118105"/>
                    </a:lnTo>
                    <a:cubicBezTo>
                      <a:pt x="0" y="52877"/>
                      <a:pt x="52877" y="0"/>
                      <a:pt x="11810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gradFill>
                  <a:gsLst>
                    <a:gs pos="0">
                      <a:srgbClr val="000949">
                        <a:alpha val="100000"/>
                      </a:srgbClr>
                    </a:gs>
                    <a:gs pos="50000">
                      <a:srgbClr val="020B45">
                        <a:alpha val="100000"/>
                      </a:srgbClr>
                    </a:gs>
                    <a:gs pos="100000">
                      <a:srgbClr val="4300C4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931770" cy="1805209"/>
              </a:xfrm>
              <a:prstGeom prst="rect">
                <a:avLst/>
              </a:prstGeom>
            </p:spPr>
            <p:txBody>
              <a:bodyPr lIns="45480" tIns="45480" rIns="45480" bIns="45480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67855" y="1302373"/>
              <a:ext cx="3713157" cy="5830746"/>
            </a:xfrm>
            <a:custGeom>
              <a:avLst/>
              <a:gdLst/>
              <a:ahLst/>
              <a:cxnLst/>
              <a:rect l="l" t="t" r="r" b="b"/>
              <a:pathLst>
                <a:path w="3713157" h="5830746">
                  <a:moveTo>
                    <a:pt x="0" y="0"/>
                  </a:moveTo>
                  <a:lnTo>
                    <a:pt x="3713157" y="0"/>
                  </a:lnTo>
                  <a:lnTo>
                    <a:pt x="3713157" y="5830746"/>
                  </a:lnTo>
                  <a:lnTo>
                    <a:pt x="0" y="5830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343" t="-8025" r="-334008" b="-7299"/>
              </a:stretch>
            </a:blipFill>
          </p:spPr>
        </p:sp>
        <p:grpSp>
          <p:nvGrpSpPr>
            <p:cNvPr id="39" name="Group 39"/>
            <p:cNvGrpSpPr/>
            <p:nvPr/>
          </p:nvGrpSpPr>
          <p:grpSpPr>
            <a:xfrm>
              <a:off x="4171758" y="4053615"/>
              <a:ext cx="8780704" cy="3324483"/>
              <a:chOff x="0" y="0"/>
              <a:chExt cx="2125715" cy="80482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125715" cy="804822"/>
              </a:xfrm>
              <a:custGeom>
                <a:avLst/>
                <a:gdLst/>
                <a:ahLst/>
                <a:cxnLst/>
                <a:rect l="l" t="t" r="r" b="b"/>
                <a:pathLst>
                  <a:path w="2125715" h="804822">
                    <a:moveTo>
                      <a:pt x="51769" y="0"/>
                    </a:moveTo>
                    <a:lnTo>
                      <a:pt x="2073946" y="0"/>
                    </a:lnTo>
                    <a:cubicBezTo>
                      <a:pt x="2087676" y="0"/>
                      <a:pt x="2100844" y="5454"/>
                      <a:pt x="2110552" y="15163"/>
                    </a:cubicBezTo>
                    <a:cubicBezTo>
                      <a:pt x="2120261" y="24871"/>
                      <a:pt x="2125715" y="38039"/>
                      <a:pt x="2125715" y="51769"/>
                    </a:cubicBezTo>
                    <a:lnTo>
                      <a:pt x="2125715" y="753053"/>
                    </a:lnTo>
                    <a:cubicBezTo>
                      <a:pt x="2125715" y="766783"/>
                      <a:pt x="2120261" y="779951"/>
                      <a:pt x="2110552" y="789659"/>
                    </a:cubicBezTo>
                    <a:cubicBezTo>
                      <a:pt x="2100844" y="799368"/>
                      <a:pt x="2087676" y="804822"/>
                      <a:pt x="2073946" y="804822"/>
                    </a:cubicBezTo>
                    <a:lnTo>
                      <a:pt x="51769" y="804822"/>
                    </a:lnTo>
                    <a:cubicBezTo>
                      <a:pt x="23178" y="804822"/>
                      <a:pt x="0" y="781644"/>
                      <a:pt x="0" y="753053"/>
                    </a:cubicBezTo>
                    <a:lnTo>
                      <a:pt x="0" y="51769"/>
                    </a:lnTo>
                    <a:cubicBezTo>
                      <a:pt x="0" y="38039"/>
                      <a:pt x="5454" y="24871"/>
                      <a:pt x="15163" y="15163"/>
                    </a:cubicBezTo>
                    <a:cubicBezTo>
                      <a:pt x="24871" y="5454"/>
                      <a:pt x="38039" y="0"/>
                      <a:pt x="5176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gradFill>
                  <a:gsLst>
                    <a:gs pos="0">
                      <a:srgbClr val="000949">
                        <a:alpha val="100000"/>
                      </a:srgbClr>
                    </a:gs>
                    <a:gs pos="50000">
                      <a:srgbClr val="020B45">
                        <a:alpha val="100000"/>
                      </a:srgbClr>
                    </a:gs>
                    <a:gs pos="100000">
                      <a:srgbClr val="4300C4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2125715" cy="823872"/>
              </a:xfrm>
              <a:prstGeom prst="rect">
                <a:avLst/>
              </a:prstGeom>
            </p:spPr>
            <p:txBody>
              <a:bodyPr lIns="45480" tIns="45480" rIns="45480" bIns="45480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6636889" y="4819124"/>
              <a:ext cx="3850443" cy="2313995"/>
            </a:xfrm>
            <a:custGeom>
              <a:avLst/>
              <a:gdLst/>
              <a:ahLst/>
              <a:cxnLst/>
              <a:rect l="l" t="t" r="r" b="b"/>
              <a:pathLst>
                <a:path w="3850443" h="2313995">
                  <a:moveTo>
                    <a:pt x="0" y="0"/>
                  </a:moveTo>
                  <a:lnTo>
                    <a:pt x="3850443" y="0"/>
                  </a:lnTo>
                  <a:lnTo>
                    <a:pt x="3850443" y="2313995"/>
                  </a:lnTo>
                  <a:lnTo>
                    <a:pt x="0" y="2313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817" t="-101505" r="-238612" b="-100101"/>
              </a:stretch>
            </a:blipFill>
          </p:spPr>
        </p:sp>
        <p:grpSp>
          <p:nvGrpSpPr>
            <p:cNvPr id="43" name="Group 43"/>
            <p:cNvGrpSpPr/>
            <p:nvPr/>
          </p:nvGrpSpPr>
          <p:grpSpPr>
            <a:xfrm>
              <a:off x="4171758" y="0"/>
              <a:ext cx="8780704" cy="3324483"/>
              <a:chOff x="0" y="0"/>
              <a:chExt cx="2125715" cy="80482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125715" cy="804822"/>
              </a:xfrm>
              <a:custGeom>
                <a:avLst/>
                <a:gdLst/>
                <a:ahLst/>
                <a:cxnLst/>
                <a:rect l="l" t="t" r="r" b="b"/>
                <a:pathLst>
                  <a:path w="2125715" h="804822">
                    <a:moveTo>
                      <a:pt x="51769" y="0"/>
                    </a:moveTo>
                    <a:lnTo>
                      <a:pt x="2073946" y="0"/>
                    </a:lnTo>
                    <a:cubicBezTo>
                      <a:pt x="2087676" y="0"/>
                      <a:pt x="2100844" y="5454"/>
                      <a:pt x="2110552" y="15163"/>
                    </a:cubicBezTo>
                    <a:cubicBezTo>
                      <a:pt x="2120261" y="24871"/>
                      <a:pt x="2125715" y="38039"/>
                      <a:pt x="2125715" y="51769"/>
                    </a:cubicBezTo>
                    <a:lnTo>
                      <a:pt x="2125715" y="753053"/>
                    </a:lnTo>
                    <a:cubicBezTo>
                      <a:pt x="2125715" y="766783"/>
                      <a:pt x="2120261" y="779951"/>
                      <a:pt x="2110552" y="789659"/>
                    </a:cubicBezTo>
                    <a:cubicBezTo>
                      <a:pt x="2100844" y="799368"/>
                      <a:pt x="2087676" y="804822"/>
                      <a:pt x="2073946" y="804822"/>
                    </a:cubicBezTo>
                    <a:lnTo>
                      <a:pt x="51769" y="804822"/>
                    </a:lnTo>
                    <a:cubicBezTo>
                      <a:pt x="23178" y="804822"/>
                      <a:pt x="0" y="781644"/>
                      <a:pt x="0" y="753053"/>
                    </a:cubicBezTo>
                    <a:lnTo>
                      <a:pt x="0" y="51769"/>
                    </a:lnTo>
                    <a:cubicBezTo>
                      <a:pt x="0" y="38039"/>
                      <a:pt x="5454" y="24871"/>
                      <a:pt x="15163" y="15163"/>
                    </a:cubicBezTo>
                    <a:cubicBezTo>
                      <a:pt x="24871" y="5454"/>
                      <a:pt x="38039" y="0"/>
                      <a:pt x="5176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gradFill>
                  <a:gsLst>
                    <a:gs pos="0">
                      <a:srgbClr val="000949">
                        <a:alpha val="100000"/>
                      </a:srgbClr>
                    </a:gs>
                    <a:gs pos="50000">
                      <a:srgbClr val="020B45">
                        <a:alpha val="100000"/>
                      </a:srgbClr>
                    </a:gs>
                    <a:gs pos="100000">
                      <a:srgbClr val="4300C4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19050"/>
                <a:ext cx="2125715" cy="823872"/>
              </a:xfrm>
              <a:prstGeom prst="rect">
                <a:avLst/>
              </a:prstGeom>
            </p:spPr>
            <p:txBody>
              <a:bodyPr lIns="45480" tIns="45480" rIns="45480" bIns="45480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4264564" y="712893"/>
              <a:ext cx="8595091" cy="2358740"/>
            </a:xfrm>
            <a:custGeom>
              <a:avLst/>
              <a:gdLst/>
              <a:ahLst/>
              <a:cxnLst/>
              <a:rect l="l" t="t" r="r" b="b"/>
              <a:pathLst>
                <a:path w="8595091" h="2358740">
                  <a:moveTo>
                    <a:pt x="0" y="0"/>
                  </a:moveTo>
                  <a:lnTo>
                    <a:pt x="8595092" y="0"/>
                  </a:lnTo>
                  <a:lnTo>
                    <a:pt x="8595092" y="2358741"/>
                  </a:lnTo>
                  <a:lnTo>
                    <a:pt x="0" y="2358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9961" t="-67563" r="-2681" b="-61181"/>
              </a:stretch>
            </a:blipFill>
          </p:spPr>
        </p:sp>
        <p:grpSp>
          <p:nvGrpSpPr>
            <p:cNvPr id="47" name="Group 47"/>
            <p:cNvGrpSpPr/>
            <p:nvPr/>
          </p:nvGrpSpPr>
          <p:grpSpPr>
            <a:xfrm>
              <a:off x="13345906" y="0"/>
              <a:ext cx="4274802" cy="7378099"/>
              <a:chOff x="0" y="0"/>
              <a:chExt cx="1034884" cy="178615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034884" cy="1786159"/>
              </a:xfrm>
              <a:custGeom>
                <a:avLst/>
                <a:gdLst/>
                <a:ahLst/>
                <a:cxnLst/>
                <a:rect l="l" t="t" r="r" b="b"/>
                <a:pathLst>
                  <a:path w="1034884" h="1786159">
                    <a:moveTo>
                      <a:pt x="106337" y="0"/>
                    </a:moveTo>
                    <a:lnTo>
                      <a:pt x="928547" y="0"/>
                    </a:lnTo>
                    <a:cubicBezTo>
                      <a:pt x="956750" y="0"/>
                      <a:pt x="983797" y="11203"/>
                      <a:pt x="1003739" y="31145"/>
                    </a:cubicBezTo>
                    <a:cubicBezTo>
                      <a:pt x="1023681" y="51087"/>
                      <a:pt x="1034884" y="78135"/>
                      <a:pt x="1034884" y="106337"/>
                    </a:cubicBezTo>
                    <a:lnTo>
                      <a:pt x="1034884" y="1679822"/>
                    </a:lnTo>
                    <a:cubicBezTo>
                      <a:pt x="1034884" y="1738551"/>
                      <a:pt x="987276" y="1786159"/>
                      <a:pt x="928547" y="1786159"/>
                    </a:cubicBezTo>
                    <a:lnTo>
                      <a:pt x="106337" y="1786159"/>
                    </a:lnTo>
                    <a:cubicBezTo>
                      <a:pt x="47609" y="1786159"/>
                      <a:pt x="0" y="1738551"/>
                      <a:pt x="0" y="1679822"/>
                    </a:cubicBezTo>
                    <a:lnTo>
                      <a:pt x="0" y="106337"/>
                    </a:lnTo>
                    <a:cubicBezTo>
                      <a:pt x="0" y="47609"/>
                      <a:pt x="47609" y="0"/>
                      <a:pt x="1063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gradFill>
                  <a:gsLst>
                    <a:gs pos="0">
                      <a:srgbClr val="000949">
                        <a:alpha val="100000"/>
                      </a:srgbClr>
                    </a:gs>
                    <a:gs pos="50000">
                      <a:srgbClr val="020B45">
                        <a:alpha val="100000"/>
                      </a:srgbClr>
                    </a:gs>
                    <a:gs pos="100000">
                      <a:srgbClr val="4300C4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19050"/>
                <a:ext cx="1034884" cy="1805209"/>
              </a:xfrm>
              <a:prstGeom prst="rect">
                <a:avLst/>
              </a:prstGeom>
            </p:spPr>
            <p:txBody>
              <a:bodyPr lIns="45480" tIns="45480" rIns="45480" bIns="45480" rtlCol="0" anchor="ctr"/>
              <a:lstStyle/>
              <a:p>
                <a:pPr algn="ctr">
                  <a:lnSpc>
                    <a:spcPts val="2640"/>
                  </a:lnSpc>
                </a:pPr>
                <a:endParaRPr/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13749734" y="3503642"/>
              <a:ext cx="3467147" cy="1428207"/>
            </a:xfrm>
            <a:custGeom>
              <a:avLst/>
              <a:gdLst/>
              <a:ahLst/>
              <a:cxnLst/>
              <a:rect l="l" t="t" r="r" b="b"/>
              <a:pathLst>
                <a:path w="3467147" h="1428207">
                  <a:moveTo>
                    <a:pt x="0" y="0"/>
                  </a:moveTo>
                  <a:lnTo>
                    <a:pt x="3467147" y="0"/>
                  </a:lnTo>
                  <a:lnTo>
                    <a:pt x="3467147" y="1428208"/>
                  </a:lnTo>
                  <a:lnTo>
                    <a:pt x="0" y="1428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24503" t="-226263" r="-12103" b="-231518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13532968" y="1713950"/>
              <a:ext cx="3782133" cy="1357684"/>
            </a:xfrm>
            <a:custGeom>
              <a:avLst/>
              <a:gdLst/>
              <a:ahLst/>
              <a:cxnLst/>
              <a:rect l="l" t="t" r="r" b="b"/>
              <a:pathLst>
                <a:path w="3782133" h="1357684">
                  <a:moveTo>
                    <a:pt x="0" y="0"/>
                  </a:moveTo>
                  <a:lnTo>
                    <a:pt x="3782133" y="0"/>
                  </a:lnTo>
                  <a:lnTo>
                    <a:pt x="3782133" y="1357684"/>
                  </a:lnTo>
                  <a:lnTo>
                    <a:pt x="0" y="1357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9043" t="-212709" r="-114199" b="-21979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974665" y="211142"/>
              <a:ext cx="1899536" cy="455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7"/>
                </a:lnSpc>
                <a:spcBef>
                  <a:spcPct val="0"/>
                </a:spcBef>
              </a:pPr>
              <a:r>
                <a:rPr lang="en-US" sz="1926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Data Sources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2841" y="211142"/>
              <a:ext cx="2418539" cy="455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7"/>
                </a:lnSpc>
                <a:spcBef>
                  <a:spcPct val="0"/>
                </a:spcBef>
              </a:pPr>
              <a:r>
                <a:rPr lang="en-US" sz="1926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Jarva’s AI Engine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4612" y="4203086"/>
              <a:ext cx="2934995" cy="455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7"/>
                </a:lnSpc>
                <a:spcBef>
                  <a:spcPct val="0"/>
                </a:spcBef>
              </a:pPr>
              <a:r>
                <a:rPr lang="en-US" sz="1926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Intelligent Database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957343" y="211142"/>
              <a:ext cx="1051929" cy="455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7"/>
                </a:lnSpc>
                <a:spcBef>
                  <a:spcPct val="0"/>
                </a:spcBef>
              </a:pPr>
              <a:r>
                <a:rPr lang="en-US" sz="1926" b="1">
                  <a:solidFill>
                    <a:srgbClr val="04003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Output</a:t>
              </a:r>
            </a:p>
          </p:txBody>
        </p:sp>
        <p:sp>
          <p:nvSpPr>
            <p:cNvPr id="56" name="AutoShape 56"/>
            <p:cNvSpPr/>
            <p:nvPr/>
          </p:nvSpPr>
          <p:spPr>
            <a:xfrm>
              <a:off x="5704547" y="2872447"/>
              <a:ext cx="0" cy="1633204"/>
            </a:xfrm>
            <a:prstGeom prst="line">
              <a:avLst/>
            </a:prstGeom>
            <a:ln w="55926" cap="flat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42F81">
                      <a:alpha val="100000"/>
                    </a:srgbClr>
                  </a:gs>
                  <a:gs pos="100000">
                    <a:srgbClr val="1BC47D">
                      <a:alpha val="100000"/>
                    </a:srgbClr>
                  </a:gs>
                </a:gsLst>
                <a:lin ang="5400000"/>
              </a:gradFill>
              <a:prstDash val="solid"/>
              <a:headEnd type="none" w="sm" len="sm"/>
              <a:tailEnd type="arrow" w="med" len="sm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1189181" y="2872447"/>
              <a:ext cx="0" cy="1633204"/>
            </a:xfrm>
            <a:prstGeom prst="line">
              <a:avLst/>
            </a:prstGeom>
            <a:ln w="55926" cap="flat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42F81">
                      <a:alpha val="100000"/>
                    </a:srgbClr>
                  </a:gs>
                  <a:gs pos="100000">
                    <a:srgbClr val="1BC47D">
                      <a:alpha val="100000"/>
                    </a:srgbClr>
                  </a:gs>
                </a:gsLst>
                <a:lin ang="5400000"/>
              </a:gra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58" name="AutoShape 58"/>
          <p:cNvSpPr/>
          <p:nvPr/>
        </p:nvSpPr>
        <p:spPr>
          <a:xfrm flipV="1">
            <a:off x="4759367" y="7966625"/>
            <a:ext cx="5038470" cy="814554"/>
          </a:xfrm>
          <a:prstGeom prst="line">
            <a:avLst/>
          </a:prstGeom>
          <a:ln w="76200" cap="flat">
            <a:gradFill>
              <a:gsLst>
                <a:gs pos="0">
                  <a:srgbClr val="000949">
                    <a:alpha val="100000"/>
                  </a:srgbClr>
                </a:gs>
                <a:gs pos="50000">
                  <a:srgbClr val="020B45">
                    <a:alpha val="100000"/>
                  </a:srgbClr>
                </a:gs>
                <a:gs pos="100000">
                  <a:srgbClr val="4300C4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arrow" w="med" len="sm"/>
          </a:ln>
        </p:spPr>
      </p:sp>
      <p:sp>
        <p:nvSpPr>
          <p:cNvPr id="59" name="Freeform 59"/>
          <p:cNvSpPr/>
          <p:nvPr/>
        </p:nvSpPr>
        <p:spPr>
          <a:xfrm>
            <a:off x="3036703" y="2838645"/>
            <a:ext cx="1453930" cy="1728298"/>
          </a:xfrm>
          <a:custGeom>
            <a:avLst/>
            <a:gdLst/>
            <a:ahLst/>
            <a:cxnLst/>
            <a:rect l="l" t="t" r="r" b="b"/>
            <a:pathLst>
              <a:path w="1453930" h="1728298">
                <a:moveTo>
                  <a:pt x="0" y="0"/>
                </a:moveTo>
                <a:lnTo>
                  <a:pt x="1453930" y="0"/>
                </a:lnTo>
                <a:lnTo>
                  <a:pt x="1453930" y="1728297"/>
                </a:lnTo>
                <a:lnTo>
                  <a:pt x="0" y="17282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431476" y="3891374"/>
            <a:ext cx="1524202" cy="4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70BEB">
                    <a:alpha val="49804"/>
                  </a:srgbClr>
                </a:solidFill>
                <a:latin typeface="Carlito Bold"/>
                <a:ea typeface="Carlito Bold"/>
                <a:cs typeface="Carlito Bold"/>
                <a:sym typeface="Carlito Bold"/>
              </a:rPr>
              <a:t>Data Input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304588" y="3891374"/>
            <a:ext cx="2388937" cy="4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70BEB">
                    <a:alpha val="49804"/>
                  </a:srgbClr>
                </a:solidFill>
                <a:latin typeface="Carlito Bold"/>
                <a:ea typeface="Carlito Bold"/>
                <a:cs typeface="Carlito Bold"/>
                <a:sym typeface="Carlito Bold"/>
              </a:rPr>
              <a:t>Data Process</a:t>
            </a:r>
          </a:p>
        </p:txBody>
      </p:sp>
      <p:sp>
        <p:nvSpPr>
          <p:cNvPr id="62" name="Freeform 62"/>
          <p:cNvSpPr/>
          <p:nvPr/>
        </p:nvSpPr>
        <p:spPr>
          <a:xfrm>
            <a:off x="15134101" y="234478"/>
            <a:ext cx="1153799" cy="637771"/>
          </a:xfrm>
          <a:custGeom>
            <a:avLst/>
            <a:gdLst/>
            <a:ahLst/>
            <a:cxnLst/>
            <a:rect l="l" t="t" r="r" b="b"/>
            <a:pathLst>
              <a:path w="1153799" h="637771">
                <a:moveTo>
                  <a:pt x="0" y="0"/>
                </a:moveTo>
                <a:lnTo>
                  <a:pt x="1153799" y="0"/>
                </a:lnTo>
                <a:lnTo>
                  <a:pt x="1153799" y="637771"/>
                </a:lnTo>
                <a:lnTo>
                  <a:pt x="0" y="6377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3503" r="-50142" b="-78229"/>
            </a:stretch>
          </a:blipFill>
        </p:spPr>
      </p:sp>
      <p:grpSp>
        <p:nvGrpSpPr>
          <p:cNvPr id="63" name="Group 63"/>
          <p:cNvGrpSpPr/>
          <p:nvPr/>
        </p:nvGrpSpPr>
        <p:grpSpPr>
          <a:xfrm>
            <a:off x="16439838" y="234478"/>
            <a:ext cx="1638923" cy="702984"/>
            <a:chOff x="0" y="0"/>
            <a:chExt cx="2185231" cy="93731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39019" cy="937312"/>
            </a:xfrm>
            <a:custGeom>
              <a:avLst/>
              <a:gdLst/>
              <a:ahLst/>
              <a:cxnLst/>
              <a:rect l="l" t="t" r="r" b="b"/>
              <a:pathLst>
                <a:path w="939019" h="937312">
                  <a:moveTo>
                    <a:pt x="0" y="0"/>
                  </a:moveTo>
                  <a:lnTo>
                    <a:pt x="939019" y="0"/>
                  </a:lnTo>
                  <a:lnTo>
                    <a:pt x="939019" y="937312"/>
                  </a:lnTo>
                  <a:lnTo>
                    <a:pt x="0" y="93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1100196" y="335090"/>
              <a:ext cx="1085035" cy="324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6"/>
                </a:lnSpc>
              </a:pPr>
              <a:r>
                <a:rPr lang="en-US" sz="1895" b="1">
                  <a:solidFill>
                    <a:srgbClr val="0110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Jarvis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2899" y="516481"/>
            <a:ext cx="2962212" cy="512219"/>
            <a:chOff x="0" y="0"/>
            <a:chExt cx="780171" cy="13490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80171" cy="134906"/>
            </a:xfrm>
            <a:custGeom>
              <a:avLst/>
              <a:gdLst/>
              <a:ahLst/>
              <a:cxnLst/>
              <a:rect l="l" t="t" r="r" b="b"/>
              <a:pathLst>
                <a:path w="780171" h="134906">
                  <a:moveTo>
                    <a:pt x="67453" y="0"/>
                  </a:moveTo>
                  <a:lnTo>
                    <a:pt x="712718" y="0"/>
                  </a:lnTo>
                  <a:cubicBezTo>
                    <a:pt x="749972" y="0"/>
                    <a:pt x="780171" y="30200"/>
                    <a:pt x="780171" y="67453"/>
                  </a:cubicBezTo>
                  <a:lnTo>
                    <a:pt x="780171" y="67453"/>
                  </a:lnTo>
                  <a:cubicBezTo>
                    <a:pt x="780171" y="104706"/>
                    <a:pt x="749972" y="134906"/>
                    <a:pt x="712718" y="134906"/>
                  </a:cubicBezTo>
                  <a:lnTo>
                    <a:pt x="67453" y="134906"/>
                  </a:lnTo>
                  <a:cubicBezTo>
                    <a:pt x="30200" y="134906"/>
                    <a:pt x="0" y="104706"/>
                    <a:pt x="0" y="67453"/>
                  </a:cubicBezTo>
                  <a:lnTo>
                    <a:pt x="0" y="67453"/>
                  </a:lnTo>
                  <a:cubicBezTo>
                    <a:pt x="0" y="30200"/>
                    <a:pt x="30200" y="0"/>
                    <a:pt x="674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42F81">
                    <a:alpha val="100000"/>
                  </a:srgbClr>
                </a:gs>
                <a:gs pos="100000">
                  <a:srgbClr val="2203B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8" name="TextBox 68"/>
            <p:cNvSpPr txBox="1"/>
            <p:nvPr/>
          </p:nvSpPr>
          <p:spPr>
            <a:xfrm>
              <a:off x="0" y="19050"/>
              <a:ext cx="780171" cy="11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677197" y="546519"/>
            <a:ext cx="2739868" cy="42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Appendix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02899" y="1261476"/>
            <a:ext cx="170822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  <a:spcBef>
                <a:spcPct val="0"/>
              </a:spcBef>
            </a:pPr>
            <a:r>
              <a:rPr lang="en-US" sz="4500" b="1">
                <a:solidFill>
                  <a:srgbClr val="040030"/>
                </a:solidFill>
                <a:latin typeface="Carlito Bold"/>
                <a:ea typeface="Carlito Bold"/>
                <a:cs typeface="Carlito Bold"/>
                <a:sym typeface="Carlito Bold"/>
              </a:rPr>
              <a:t>Detailed explanation of current MVP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737</Words>
  <Application>Microsoft Macintosh PowerPoint</Application>
  <PresentationFormat>Custom</PresentationFormat>
  <Paragraphs>182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Canva Sans Bold</vt:lpstr>
      <vt:lpstr>TT Interphases Bold</vt:lpstr>
      <vt:lpstr>Carlito</vt:lpstr>
      <vt:lpstr>Carlito Bold Italics</vt:lpstr>
      <vt:lpstr>Cerebri Bold</vt:lpstr>
      <vt:lpstr>Calibri</vt:lpstr>
      <vt:lpstr>Carlito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Hackathon_Team 6_Future of Investment</dc:title>
  <dc:description>Presentation - Personalized Agentic AI</dc:description>
  <cp:lastModifiedBy>Microsoft Office User</cp:lastModifiedBy>
  <cp:revision>3</cp:revision>
  <dcterms:created xsi:type="dcterms:W3CDTF">2006-08-16T00:00:00Z</dcterms:created>
  <dcterms:modified xsi:type="dcterms:W3CDTF">2026-01-21T23:16:43Z</dcterms:modified>
  <dc:identifier>DAG5-pZbcog</dc:identifier>
</cp:coreProperties>
</file>